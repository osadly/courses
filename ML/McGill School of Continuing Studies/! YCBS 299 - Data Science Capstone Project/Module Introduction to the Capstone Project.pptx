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11"/>
  </p:notesMasterIdLst>
  <p:handoutMasterIdLst>
    <p:handoutMasterId r:id="rId12"/>
  </p:handoutMasterIdLst>
  <p:sldIdLst>
    <p:sldId id="265" r:id="rId5"/>
    <p:sldId id="475" r:id="rId6"/>
    <p:sldId id="401" r:id="rId7"/>
    <p:sldId id="291" r:id="rId8"/>
    <p:sldId id="292" r:id="rId9"/>
    <p:sldId id="259" r:id="rId10"/>
  </p:sldIdLst>
  <p:sldSz cx="12192000" cy="6858000"/>
  <p:notesSz cx="6934200" cy="9220200"/>
  <p:custDataLst>
    <p:tags r:id="rId1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ademic Tablet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C"/>
    <a:srgbClr val="F0F0F0"/>
    <a:srgbClr val="91C8D7"/>
    <a:srgbClr val="ED1B2F"/>
    <a:srgbClr val="E43029"/>
    <a:srgbClr val="FF0000"/>
    <a:srgbClr val="698335"/>
    <a:srgbClr val="DFF1CB"/>
    <a:srgbClr val="EF5F5F"/>
    <a:srgbClr val="E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74939" autoAdjust="0"/>
  </p:normalViewPr>
  <p:slideViewPr>
    <p:cSldViewPr>
      <p:cViewPr varScale="1">
        <p:scale>
          <a:sx n="71" d="100"/>
          <a:sy n="71" d="100"/>
        </p:scale>
        <p:origin x="1109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4046"/>
    </p:cViewPr>
  </p:sorter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DD28354E-E48C-49CC-8370-7D038345486C}" type="slidenum">
              <a:rPr lang="en-US">
                <a:latin typeface="Calibri" panose="020F0502020204030204" pitchFamily="34" charset="0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384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22" y="4379901"/>
            <a:ext cx="5546758" cy="41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>
                <a:latin typeface="Calibri" panose="020F0502020204030204" pitchFamily="34" charset="0"/>
              </a:defRPr>
            </a:lvl1pPr>
          </a:lstStyle>
          <a:p>
            <a:fld id="{87F161E8-846D-4747-B53A-F633A57CCB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0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Espace réservé de l’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 dirty="0"/>
          </a:p>
        </p:txBody>
      </p:sp>
      <p:sp>
        <p:nvSpPr>
          <p:cNvPr id="33795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GillSans" charset="0"/>
                <a:ea typeface="ヒラギノ角ゴ ProN W3" charset="-128"/>
                <a:sym typeface="GillSans" charset="0"/>
              </a:defRPr>
            </a:lvl9pPr>
          </a:lstStyle>
          <a:p>
            <a:fld id="{AB00326C-CFAE-4746-AF20-8EB9EB9D2C6A}" type="slidenum">
              <a:rPr lang="en-US" altLang="en-US">
                <a:latin typeface="Calibri" panose="020F0502020204030204" pitchFamily="34" charset="0"/>
              </a:rPr>
              <a:pPr/>
              <a:t>2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924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c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17AF09-705B-4B85-9CE8-20CD28373BC3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893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can be used, but you won’t be able to answer all the questions.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049000" y="6400800"/>
            <a:ext cx="914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4384"/>
            <a:ext cx="9372600" cy="5053584"/>
          </a:xfrm>
          <a:noFill/>
        </p:spPr>
        <p:txBody>
          <a:bodyPr/>
          <a:lstStyle/>
          <a:p>
            <a:pPr lvl="0"/>
            <a:r>
              <a:rPr lang="en-US" dirty="0"/>
              <a:t>Click </a:t>
            </a:r>
            <a:r>
              <a:rPr lang="en-US" sz="3600" b="1" dirty="0" err="1">
                <a:solidFill>
                  <a:schemeClr val="tx1"/>
                </a:solidFill>
                <a:latin typeface="+mj-lt"/>
              </a:rPr>
              <a:t>Click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 and type the Course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Course Number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Session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Instructor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37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5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6001"/>
            <a:ext cx="10972800" cy="38401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76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990600"/>
            <a:ext cx="6815667" cy="5135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990600"/>
            <a:ext cx="4011084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362201"/>
            <a:ext cx="6815667" cy="3763963"/>
          </a:xfrm>
          <a:prstGeom prst="rect">
            <a:avLst/>
          </a:prstGeom>
        </p:spPr>
        <p:txBody>
          <a:bodyPr/>
          <a:lstStyle>
            <a:lvl1pPr>
              <a:defRPr sz="32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2362201"/>
            <a:ext cx="4011084" cy="3763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9144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1200" y="5367338"/>
            <a:ext cx="106680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E43029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21336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9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3505200"/>
            <a:ext cx="5283200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and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65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8000" y="91440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52601"/>
            <a:ext cx="5386917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1" y="91440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1752601"/>
            <a:ext cx="5389033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90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1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43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668000" cy="14115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24F6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9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scussion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Discussion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3" name="Rounded Rectangular Callout 12"/>
          <p:cNvSpPr/>
          <p:nvPr userDrawn="1"/>
        </p:nvSpPr>
        <p:spPr>
          <a:xfrm>
            <a:off x="3009900" y="3273595"/>
            <a:ext cx="8026400" cy="1600200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009900" y="3133217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814109" y="3407226"/>
            <a:ext cx="7057092" cy="124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8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example tex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0"/>
            <a:ext cx="110744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Case Example text</a:t>
            </a:r>
          </a:p>
        </p:txBody>
      </p:sp>
      <p:sp>
        <p:nvSpPr>
          <p:cNvPr id="13" name="Rounded Rectangular Callout 12"/>
          <p:cNvSpPr/>
          <p:nvPr userDrawn="1"/>
        </p:nvSpPr>
        <p:spPr>
          <a:xfrm>
            <a:off x="609600" y="4572000"/>
            <a:ext cx="8026400" cy="1359578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4495801"/>
            <a:ext cx="101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219201" y="4652664"/>
            <a:ext cx="7251700" cy="1138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2" name="Rounded Rectangular Callout 11"/>
          <p:cNvSpPr/>
          <p:nvPr userDrawn="1"/>
        </p:nvSpPr>
        <p:spPr>
          <a:xfrm>
            <a:off x="1237129" y="1519536"/>
            <a:ext cx="9144000" cy="2819382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320800" y="144780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032000" y="1696286"/>
            <a:ext cx="8026400" cy="24185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59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ular Callout 10"/>
          <p:cNvSpPr/>
          <p:nvPr userDrawn="1"/>
        </p:nvSpPr>
        <p:spPr>
          <a:xfrm>
            <a:off x="505288" y="916594"/>
            <a:ext cx="7825913" cy="2128813"/>
          </a:xfrm>
          <a:prstGeom prst="wedgeRoundRectCallout">
            <a:avLst>
              <a:gd name="adj1" fmla="val -3023"/>
              <a:gd name="adj2" fmla="val 84693"/>
              <a:gd name="adj3" fmla="val 16667"/>
            </a:avLst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3322027"/>
            <a:ext cx="6515100" cy="3228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609600" y="83820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Q</a:t>
            </a:r>
          </a:p>
        </p:txBody>
      </p:sp>
      <p:sp>
        <p:nvSpPr>
          <p:cNvPr id="17" name="Rounded Rectangular Callout 16"/>
          <p:cNvSpPr/>
          <p:nvPr userDrawn="1"/>
        </p:nvSpPr>
        <p:spPr>
          <a:xfrm>
            <a:off x="2743201" y="2200669"/>
            <a:ext cx="8872071" cy="2676692"/>
          </a:xfrm>
          <a:prstGeom prst="wedgeRoundRectCallout">
            <a:avLst/>
          </a:prstGeom>
          <a:gradFill>
            <a:gsLst>
              <a:gs pos="0">
                <a:srgbClr val="DFF1CB"/>
              </a:gs>
              <a:gs pos="80000">
                <a:schemeClr val="accent3"/>
              </a:gs>
              <a:gs pos="100000">
                <a:schemeClr val="accent3"/>
              </a:gs>
            </a:gsLst>
          </a:gradFill>
          <a:ln>
            <a:solidFill>
              <a:srgbClr val="69833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44800" y="212467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588871" y="2438400"/>
            <a:ext cx="7587129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correct response.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05648" y="1004651"/>
            <a:ext cx="7022353" cy="1196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original question text.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813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752600"/>
            <a:ext cx="7620000" cy="3921919"/>
          </a:xfrm>
          <a:prstGeom prst="rect">
            <a:avLst/>
          </a:prstGeom>
        </p:spPr>
      </p:pic>
      <p:sp>
        <p:nvSpPr>
          <p:cNvPr id="8" name="Text Placeholder 8"/>
          <p:cNvSpPr txBox="1">
            <a:spLocks/>
          </p:cNvSpPr>
          <p:nvPr userDrawn="1"/>
        </p:nvSpPr>
        <p:spPr>
          <a:xfrm>
            <a:off x="304800" y="76200"/>
            <a:ext cx="11582400" cy="60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  <a:defRPr lang="en-US" sz="3700" b="1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  <a:cs typeface="Calibri" panose="020F0502020204030204" pitchFamily="34" charset="0"/>
              </a:rPr>
              <a:t>Break</a:t>
            </a:r>
            <a:endParaRPr lang="en-US" sz="36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7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 txBox="1">
            <a:spLocks/>
          </p:cNvSpPr>
          <p:nvPr userDrawn="1"/>
        </p:nvSpPr>
        <p:spPr>
          <a:xfrm>
            <a:off x="394770" y="936056"/>
            <a:ext cx="11402460" cy="5157240"/>
          </a:xfrm>
          <a:prstGeom prst="rect">
            <a:avLst/>
          </a:prstGeom>
          <a:solidFill>
            <a:schemeClr val="bg1">
              <a:alpha val="84000"/>
            </a:schemeClr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1800" b="1" dirty="0"/>
          </a:p>
        </p:txBody>
      </p:sp>
      <p:sp>
        <p:nvSpPr>
          <p:cNvPr id="24" name="Title 1"/>
          <p:cNvSpPr txBox="1">
            <a:spLocks/>
          </p:cNvSpPr>
          <p:nvPr userDrawn="1"/>
        </p:nvSpPr>
        <p:spPr>
          <a:xfrm>
            <a:off x="0" y="6316809"/>
            <a:ext cx="12192000" cy="540000"/>
          </a:xfrm>
          <a:prstGeom prst="rect">
            <a:avLst/>
          </a:prstGeom>
          <a:solidFill>
            <a:srgbClr val="F0F0F0"/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3600" b="1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4" y="6453336"/>
            <a:ext cx="3298816" cy="306637"/>
          </a:xfrm>
          <a:prstGeom prst="rect">
            <a:avLst/>
          </a:prstGeom>
        </p:spPr>
      </p:pic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F0F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1424592" y="6351711"/>
            <a:ext cx="83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B1D6B-A3F5-4E70-95BC-32D49588B2FD}" type="slidenum">
              <a:rPr lang="en-US" sz="2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11280576" y="6427886"/>
            <a:ext cx="0" cy="3178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0"/>
    </p:custDataLst>
    <p:extLst>
      <p:ext uri="{BB962C8B-B14F-4D97-AF65-F5344CB8AC3E}">
        <p14:creationId xmlns:p14="http://schemas.microsoft.com/office/powerpoint/2010/main" val="31956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14" r:id="rId2"/>
    <p:sldLayoutId id="2147483857" r:id="rId3"/>
    <p:sldLayoutId id="2147483855" r:id="rId4"/>
    <p:sldLayoutId id="2147483858" r:id="rId5"/>
    <p:sldLayoutId id="2147483856" r:id="rId6"/>
    <p:sldLayoutId id="2147483859" r:id="rId7"/>
    <p:sldLayoutId id="2147483840" r:id="rId8"/>
    <p:sldLayoutId id="2147483815" r:id="rId9"/>
    <p:sldLayoutId id="2147483818" r:id="rId10"/>
    <p:sldLayoutId id="2147483816" r:id="rId11"/>
    <p:sldLayoutId id="2147483876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Science Capstone Project</a:t>
            </a:r>
            <a:br>
              <a:rPr lang="en-CA" dirty="0"/>
            </a:br>
            <a:r>
              <a:rPr lang="en-CA" dirty="0"/>
              <a:t>YCBS 299</a:t>
            </a:r>
            <a:br>
              <a:rPr lang="en-CA" dirty="0"/>
            </a:br>
            <a:r>
              <a:rPr lang="en-CA" dirty="0"/>
              <a:t>Module: </a:t>
            </a:r>
            <a:r>
              <a:rPr lang="en-US" dirty="0"/>
              <a:t>Introduction to the Capstone Project Nabil Beitinjaneh and </a:t>
            </a:r>
            <a:r>
              <a:rPr lang="en-CA" dirty="0"/>
              <a:t>Alejandro Gutierrez Lopez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4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BFE4-AF17-4389-AD1E-582667FC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Types of Projects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481437C5-54B6-47B7-84DE-97A2CB62D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216067"/>
              </p:ext>
            </p:extLst>
          </p:nvPr>
        </p:nvGraphicFramePr>
        <p:xfrm>
          <a:off x="609776" y="1541074"/>
          <a:ext cx="10972448" cy="377585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43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73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200" kern="1200" dirty="0"/>
                        <a:t>Area</a:t>
                      </a:r>
                      <a:endParaRPr lang="es-MX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200" kern="1200" dirty="0"/>
                        <a:t>Project A</a:t>
                      </a:r>
                      <a:endParaRPr lang="es-MX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200" kern="1200" dirty="0"/>
                        <a:t>Project B</a:t>
                      </a:r>
                      <a:endParaRPr lang="es-MX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200" kern="1200" dirty="0"/>
                        <a:t>Project C</a:t>
                      </a:r>
                      <a:endParaRPr lang="es-MX" sz="2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16" marR="121916"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232">
                <a:tc>
                  <a:txBody>
                    <a:bodyPr/>
                    <a:lstStyle/>
                    <a:p>
                      <a:r>
                        <a:rPr lang="en-US" sz="2200" dirty="0"/>
                        <a:t>Scope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Defined question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Open-ended question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Open</a:t>
                      </a:r>
                      <a:r>
                        <a:rPr lang="en-US" sz="2200" baseline="0" dirty="0"/>
                        <a:t>-ended project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738">
                <a:tc>
                  <a:txBody>
                    <a:bodyPr/>
                    <a:lstStyle/>
                    <a:p>
                      <a:r>
                        <a:rPr lang="en-US" sz="2200" dirty="0"/>
                        <a:t>Initial dataset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Firefighters dataset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Firefighters dataset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311 dataset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6145">
                <a:tc>
                  <a:txBody>
                    <a:bodyPr/>
                    <a:lstStyle/>
                    <a:p>
                      <a:r>
                        <a:rPr lang="en-US" sz="2200" dirty="0"/>
                        <a:t>Additional datasets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Open</a:t>
                      </a:r>
                      <a:r>
                        <a:rPr lang="en-US" sz="2200" baseline="0" dirty="0"/>
                        <a:t> but review the datasets referenced in the first presentation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Open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Open</a:t>
                      </a:r>
                      <a:endParaRPr lang="es-MX" sz="2200" dirty="0"/>
                    </a:p>
                  </a:txBody>
                  <a:tcPr marL="121916" marR="121916" marT="54864" marB="548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872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 – Defined Question</a:t>
            </a:r>
            <a:endParaRPr lang="es-MX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6C0FBD-AB94-4AFB-833E-94110AC61A7E}"/>
              </a:ext>
            </a:extLst>
          </p:cNvPr>
          <p:cNvSpPr/>
          <p:nvPr/>
        </p:nvSpPr>
        <p:spPr>
          <a:xfrm>
            <a:off x="1375505" y="3166622"/>
            <a:ext cx="49134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+mn-lt"/>
              </a:rPr>
              <a:t>Predict high fire risk areas in the city of Montreal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E39BF577-8709-4BCA-B981-0BD9F97F76A3}"/>
              </a:ext>
            </a:extLst>
          </p:cNvPr>
          <p:cNvSpPr/>
          <p:nvPr/>
        </p:nvSpPr>
        <p:spPr>
          <a:xfrm>
            <a:off x="6420928" y="1687350"/>
            <a:ext cx="838200" cy="3733800"/>
          </a:xfrm>
          <a:prstGeom prst="leftBrace">
            <a:avLst>
              <a:gd name="adj1" fmla="val 0"/>
              <a:gd name="adj2" fmla="val 50000"/>
            </a:avLst>
          </a:prstGeom>
          <a:ln w="38100">
            <a:solidFill>
              <a:srgbClr val="8C8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56ABC-0C74-4882-BCD0-4187991122B8}"/>
              </a:ext>
            </a:extLst>
          </p:cNvPr>
          <p:cNvSpPr/>
          <p:nvPr/>
        </p:nvSpPr>
        <p:spPr>
          <a:xfrm>
            <a:off x="6867952" y="4951650"/>
            <a:ext cx="16852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400" dirty="0">
                <a:latin typeface="+mn-lt"/>
              </a:rPr>
              <a:t>Time frame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411BE0-5A94-4FEB-8ADF-9322B386B766}"/>
              </a:ext>
            </a:extLst>
          </p:cNvPr>
          <p:cNvSpPr/>
          <p:nvPr/>
        </p:nvSpPr>
        <p:spPr>
          <a:xfrm>
            <a:off x="6910333" y="1766813"/>
            <a:ext cx="11600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400" dirty="0">
                <a:latin typeface="+mn-lt"/>
              </a:rPr>
              <a:t>Fire risk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C94C6-764C-40EA-8E7A-9804ED305C25}"/>
              </a:ext>
            </a:extLst>
          </p:cNvPr>
          <p:cNvSpPr/>
          <p:nvPr/>
        </p:nvSpPr>
        <p:spPr>
          <a:xfrm>
            <a:off x="6867952" y="3151328"/>
            <a:ext cx="18958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400" dirty="0">
                <a:latin typeface="+mn-lt"/>
              </a:rPr>
              <a:t>Geographical </a:t>
            </a:r>
          </a:p>
          <a:p>
            <a:r>
              <a:rPr lang="en-CA" sz="2400" dirty="0">
                <a:latin typeface="+mn-lt"/>
              </a:rPr>
              <a:t>Area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716148FE-C1AA-42ED-ADA0-2431038357C1}"/>
              </a:ext>
            </a:extLst>
          </p:cNvPr>
          <p:cNvSpPr/>
          <p:nvPr/>
        </p:nvSpPr>
        <p:spPr>
          <a:xfrm>
            <a:off x="8747174" y="2820775"/>
            <a:ext cx="529465" cy="1477327"/>
          </a:xfrm>
          <a:prstGeom prst="leftBrace">
            <a:avLst>
              <a:gd name="adj1" fmla="val 0"/>
              <a:gd name="adj2" fmla="val 5000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5AAEC-312A-4B00-B973-D9E09377E81D}"/>
              </a:ext>
            </a:extLst>
          </p:cNvPr>
          <p:cNvSpPr/>
          <p:nvPr/>
        </p:nvSpPr>
        <p:spPr>
          <a:xfrm>
            <a:off x="9006870" y="3017977"/>
            <a:ext cx="23709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>
                <a:latin typeface="+mn-lt"/>
              </a:rPr>
              <a:t>Borough</a:t>
            </a:r>
          </a:p>
          <a:p>
            <a:r>
              <a:rPr lang="en-CA" dirty="0">
                <a:latin typeface="+mn-lt"/>
              </a:rPr>
              <a:t>Dissemination block</a:t>
            </a:r>
          </a:p>
          <a:p>
            <a:r>
              <a:rPr lang="en-CA" dirty="0">
                <a:latin typeface="+mn-lt"/>
              </a:rPr>
              <a:t>Dissemination area</a:t>
            </a:r>
          </a:p>
          <a:p>
            <a:r>
              <a:rPr lang="en-CA" dirty="0">
                <a:latin typeface="+mn-lt"/>
              </a:rPr>
              <a:t>….</a:t>
            </a:r>
          </a:p>
          <a:p>
            <a:endParaRPr lang="en-CA" dirty="0">
              <a:latin typeface="+mn-lt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9D196D21-8818-4146-85C3-283E9987B62B}"/>
              </a:ext>
            </a:extLst>
          </p:cNvPr>
          <p:cNvSpPr/>
          <p:nvPr/>
        </p:nvSpPr>
        <p:spPr>
          <a:xfrm>
            <a:off x="8747175" y="4429830"/>
            <a:ext cx="529464" cy="1477327"/>
          </a:xfrm>
          <a:prstGeom prst="leftBrace">
            <a:avLst>
              <a:gd name="adj1" fmla="val 0"/>
              <a:gd name="adj2" fmla="val 50000"/>
            </a:avLst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CE172-07EC-4271-B3AC-22CB07622A28}"/>
              </a:ext>
            </a:extLst>
          </p:cNvPr>
          <p:cNvSpPr txBox="1"/>
          <p:nvPr/>
        </p:nvSpPr>
        <p:spPr>
          <a:xfrm>
            <a:off x="8962629" y="4431979"/>
            <a:ext cx="1533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+mn-lt"/>
              </a:rPr>
              <a:t>Day</a:t>
            </a:r>
          </a:p>
          <a:p>
            <a:r>
              <a:rPr lang="en-CA" dirty="0">
                <a:latin typeface="+mn-lt"/>
              </a:rPr>
              <a:t>Week</a:t>
            </a:r>
          </a:p>
          <a:p>
            <a:r>
              <a:rPr lang="en-CA" b="1" dirty="0">
                <a:latin typeface="+mn-lt"/>
              </a:rPr>
              <a:t>Month</a:t>
            </a:r>
          </a:p>
          <a:p>
            <a:r>
              <a:rPr lang="en-CA" dirty="0">
                <a:latin typeface="+mn-lt"/>
              </a:rPr>
              <a:t>Season</a:t>
            </a:r>
          </a:p>
          <a:p>
            <a:r>
              <a:rPr lang="en-CA" dirty="0">
                <a:latin typeface="+mn-lt"/>
              </a:rPr>
              <a:t>…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B8783B3D-8DBD-4E55-832E-4A99B61C60BE}"/>
              </a:ext>
            </a:extLst>
          </p:cNvPr>
          <p:cNvSpPr/>
          <p:nvPr/>
        </p:nvSpPr>
        <p:spPr>
          <a:xfrm>
            <a:off x="8747174" y="1155788"/>
            <a:ext cx="529465" cy="1587412"/>
          </a:xfrm>
          <a:prstGeom prst="leftBrace">
            <a:avLst>
              <a:gd name="adj1" fmla="val 0"/>
              <a:gd name="adj2" fmla="val 50000"/>
            </a:avLst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33AE9B-6C59-4B83-B6B6-F60246DAD978}"/>
              </a:ext>
            </a:extLst>
          </p:cNvPr>
          <p:cNvSpPr/>
          <p:nvPr/>
        </p:nvSpPr>
        <p:spPr>
          <a:xfrm>
            <a:off x="8978410" y="1217474"/>
            <a:ext cx="189547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>
                <a:latin typeface="+mn-lt"/>
              </a:rPr>
              <a:t># Incidents</a:t>
            </a:r>
          </a:p>
          <a:p>
            <a:r>
              <a:rPr lang="en-CA" dirty="0">
                <a:latin typeface="+mn-lt"/>
              </a:rPr>
              <a:t># Calls</a:t>
            </a:r>
          </a:p>
          <a:p>
            <a:r>
              <a:rPr lang="en-CA" dirty="0">
                <a:latin typeface="+mn-lt"/>
              </a:rPr>
              <a:t># Units</a:t>
            </a:r>
          </a:p>
          <a:p>
            <a:r>
              <a:rPr lang="en-CA" dirty="0">
                <a:latin typeface="+mn-lt"/>
              </a:rPr>
              <a:t>Incident type</a:t>
            </a:r>
          </a:p>
          <a:p>
            <a:r>
              <a:rPr lang="en-CA" dirty="0">
                <a:latin typeface="+mn-lt"/>
              </a:rPr>
              <a:t>….</a:t>
            </a:r>
          </a:p>
          <a:p>
            <a:endParaRPr lang="en-CA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370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/>
              <a:t>Open-book individual test </a:t>
            </a:r>
          </a:p>
          <a:p>
            <a:r>
              <a:rPr lang="en-US" sz="3000" dirty="0"/>
              <a:t>Small dataset</a:t>
            </a:r>
          </a:p>
          <a:p>
            <a:r>
              <a:rPr lang="en-US" sz="3000" dirty="0"/>
              <a:t>You will have 2 hours to complete it</a:t>
            </a:r>
          </a:p>
          <a:p>
            <a:r>
              <a:rPr lang="en-US" sz="3000" dirty="0"/>
              <a:t>Fundamental topics</a:t>
            </a:r>
          </a:p>
          <a:p>
            <a:pPr lvl="1"/>
            <a:r>
              <a:rPr lang="en-US" sz="3000" dirty="0"/>
              <a:t>Statistics (descriptive and inferential statistics, causation, correlation) </a:t>
            </a:r>
          </a:p>
          <a:p>
            <a:pPr lvl="1"/>
            <a:r>
              <a:rPr lang="en-US" sz="3000" dirty="0"/>
              <a:t>Data processing (loading data, ifs, filters, etc.)</a:t>
            </a:r>
          </a:p>
          <a:p>
            <a:pPr lvl="1"/>
            <a:r>
              <a:rPr lang="en-US" sz="3000" dirty="0"/>
              <a:t>Data exploration (charts) </a:t>
            </a:r>
          </a:p>
          <a:p>
            <a:pPr lvl="1"/>
            <a:r>
              <a:rPr lang="en-US" sz="3000" dirty="0"/>
              <a:t>Data modelling (ML models, data splitting strategies, linear regression, decision trees, performance evaluation, etc.)</a:t>
            </a:r>
          </a:p>
          <a:p>
            <a:pPr lvl="1"/>
            <a:endParaRPr lang="es-MX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4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2685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Analytics for Business</a:t>
            </a: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Alteryx with predictive package</a:t>
            </a:r>
          </a:p>
          <a:p>
            <a:r>
              <a:rPr lang="en-US" sz="2800" dirty="0"/>
              <a:t>Tableau </a:t>
            </a:r>
          </a:p>
          <a:p>
            <a:r>
              <a:rPr lang="en-US" sz="2800" dirty="0"/>
              <a:t>Excel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Science and Machine Learning</a:t>
            </a:r>
            <a:endParaRPr lang="es-MX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800" dirty="0"/>
              <a:t>Python</a:t>
            </a:r>
          </a:p>
          <a:p>
            <a:r>
              <a:rPr lang="en-US" sz="2800" dirty="0"/>
              <a:t>Alteryx with predictive package</a:t>
            </a:r>
          </a:p>
          <a:p>
            <a:r>
              <a:rPr lang="en-US" sz="2800" dirty="0"/>
              <a:t>Tableau </a:t>
            </a:r>
          </a:p>
          <a:p>
            <a:r>
              <a:rPr lang="en-US" sz="2800" dirty="0"/>
              <a:t>Excel</a:t>
            </a:r>
          </a:p>
          <a:p>
            <a:endParaRPr lang="en-US" dirty="0"/>
          </a:p>
          <a:p>
            <a:endParaRPr lang="en-US" dirty="0"/>
          </a:p>
          <a:p>
            <a:endParaRPr lang="es-MX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4 - IT Resources</a:t>
            </a:r>
            <a:endParaRPr lang="fr-CA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AF08900-6907-AADB-2BFB-397555C612C1}"/>
              </a:ext>
            </a:extLst>
          </p:cNvPr>
          <p:cNvSpPr/>
          <p:nvPr/>
        </p:nvSpPr>
        <p:spPr>
          <a:xfrm>
            <a:off x="11131552" y="2362200"/>
            <a:ext cx="152400" cy="114300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7B410-0A00-18EA-8B2E-A77681172062}"/>
              </a:ext>
            </a:extLst>
          </p:cNvPr>
          <p:cNvSpPr txBox="1"/>
          <p:nvPr/>
        </p:nvSpPr>
        <p:spPr>
          <a:xfrm>
            <a:off x="11207752" y="2749034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80856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9181108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THEME_BG_IMAGE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+DQoJCTx1aXNob3cgbmFtZT0iYWx3YXlzU2NydW5jaCIgdmFsdWU9ImZhbHNlIi8+DQoJCTx1aXNob3cgbmFtZT0iaW5pdGlhbGRpc3BsYXltb2RlaXNub3JtYWwiIHZhbHVlPSJ0cnVlIi8+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Ub24gY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VklEUExBWUlORyIgdmFsdWU9IuODk+ODh+OCquWGjeeUn+S4rSIvPg0KCQk8dWl0ZXh0IG5hbWU9IlNDUlVCQkFSU1RBVFVTX0xPQURJTkciIHZhbHVlPSLjg63jg7zjg4nkuK0iLz4NCgkJPHVpdGV4dCBuYW1lPSJTQ1JVQkJBUlNUQVRVU19CVUZGRVJJTkciIHZhbHVlPSLjg5Djg4Pjg5XjgqHkuK0iLz4NCgkJPHVpdGV4dCBuYW1lPSJTQ1JVQkJBUlNUQVRVU19RVUVTVElPTiIgdmFsdWU9IuizquWVj+OBq+etlOOBiOOBpuS4i+OBleOBhCIvPg0KCQk8dWl0ZXh0IG5hbWU9IlNDUlVCQkFSU1RBVFVTX1JFVklFV1FVSVoiIHZhbHVlPSLjgq/jgqTjgrrjgpLjg6zjg5Pjg6Xjg7zjgZfjgabjgYTjgb7jgZkiLz4NCgkJPCEtLSBzdWJzdGl0dXRpb246ICVtID09IG1pbnV0ZXMgcmVtYWluaW5nIC0tPg0KCQk8IS0tIHN1YnN0aXR1dGlvbjogJXMgPT0gc2Vjb25kcyByZW1haW5pbmcgLS0+DQoJCTx1aXRleHQgbmFtZT0iRUxBUFNFRCIgdmFsdWU9Iuaui+OCiiA6ICVtIOWIhiAlcyDnp5IiLz4NCgkJPHVpdGV4dCBuYW1lPSJOT1RGT1VORCIgdmFsdWU9IuS9leOCguimi+OBpOOBi+OCiuOBvuOBm+OCkyIvPg0KCQk8dWl0ZXh0IG5hbWU9IkFUVEFDSE1FTlRTIiB2YWx1ZT0i5re75LuYIi8+DQoJCTwhLS0gc3Vic3RpdHV0aW9uOiAlcCA9PSBjdXJyZW50IHNwZWFrZXIncyB0aXRsZSAtLT4NCgkJPHVpdGV4dCBuYW1lPSJCSU9XSU5fVElUTEUiIHZhbHVlPSLntYzmrbQgOiAlcCIvPg0KCQk8dWl0ZXh0IG5hbWU9IkJJT0JUTl9USVRMRSIgdmFsdWU9Iue1jOattCIvPg0KCQk8dWl0ZXh0IG5hbWU9IkRJVklERVJCVE5fVElUTEUiIHZhbHVlPSJ8Ii8+DQoJCTx1aXRleHQgbmFtZT0iQ09OVEFDVEJUTl9USVRMRSIgdmFsdWU9IuOBiuWVj+OBhOWQiOOCj+OBmyIvPg0KCQk8dWl0ZXh0IG5hbWU9IlRBQl9RVUlaIiB2YWx1ZT0i44Kv44Kk44K6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XF1aXogcG9kIGFuZCBtZXNzYWdlIGJveCB0ZXh0cy0tPg0KCQk8dWl0ZXh0IG5hbWU9IlFVSVpQT0RfUVVJWl9BVFRFTVBUIiB2YWx1ZT0i44Kv44Kk44K66Kmm6KGM5Zue5pWwIDogIi8+DQoJCTx1aXRleHQgbmFtZT0iUVVJWlBPRF9RVUlaX0FUVEVNUFRfVkFMVUUiIHZhbHVlPSIlbiAvICV0Ii8+DQoJCTx1aXRleHQgbmFtZT0iUVVJWlBPRF9RVUlaX1NDT1JFIiB2YWx1ZT0i44K544Kz44KiIDogIi8+DQoJCTx1aXRleHQgbmFtZT0iUVVJWlBPRF9RVUlaX1BBU1NTQ09SRSIgdmFsdWU9IuWQiOagvOeCuSA6Ii8+DQoJCTx1aXRleHQgbmFtZT0iUVVJWlBPRF9RVUlaX01BWFNDT1JFIiB2YWx1ZT0i5pyA6auY5b6X54K5IDogIi8+DQoJCTx1aXRleHQgbmFtZT0iUVVJWlBPRF9RVUVTQVRNUFRfU1RSIiB2YWx1ZT0i6Kmm6KGM5Zue5pWwIDogJW4gLyAldCIvPg0KCQk8dWl0ZXh0IG5hbWU9IlFVSVpQT0RfUVVFU1RZUEVfU1RSIiB2YWx1ZT0i44K/44Kk44OXIDogJXMiLz4NCgkJPHVpdGV4dCBuYW1lPSJRVUlaUE9EX1FVRVNUWVBFX0dSRCIgdmFsdWU9IuipleS+oSIvPg0KCQk8dWl0ZXh0IG5hbWU9IlFVSVpQT0RfUVVFU1RZUEVfU1ZZIiB2YWx1ZT0i44Ki44Oz44Kx44O844OIIi8+DQoJCTx1aXRleHQgbmFtZT0iUVVJWlBPRF9RVUlaQVRNUFRfSU5GIiB2YWx1ZT0i54Sh5Yi26ZmQIi8+DQoJCTx1aXRleHQgbmFtZT0iUVVJWlBPRF9RVUVTQVRNUFRfSU5GIiB2YWx1ZT0i54Sh5Yi26ZmQIi8+DQoJCTx1aXRleHQgbmFtZT0iV0FSTklOR01TR19ZRVNTVFJJTkciIHZhbHVlPSLjga/jgYQiLz4NCgkJPHVpdGV4dCBuYW1lPSJXQVJOSU5HTVNHX05PU1RSSU5HIiB2YWx1ZT0i44GE44GE44GIIi8+DQoJCTx1aXRleHQgbmFtZT0iV0FSTklOR01TR19USVRMRVNUUklORyIgdmFsdWU9IuOCr+OCpOOCuuOBruODiuODk+OCsuODvOOCt+ODp+ODs+OBq+mWouOBmeOCi+itpuWRiiIvPg0KCQk8dWl0ZXh0IG5hbWU9IldBUk5JTkdNU0dfTVNHU1RSSU5HIiB2YWx1ZT0i44GT44Gu44Kv44Kk44K644Gr44Gv44CB44G+44Gg6Kej562U44GX44Gm44GE44Gq44GE6LOq5ZWP44GM44GC44KK44G+44GZ44CCJiN4QTsmI3hBOyDjgq/jgqTjgrrjgpLntYLkuobjgZnjgovjgavjga/jgIHjgIzjga/jgYTjgI3jgpLjgq/jg6rjg4Pjgq/jgZfjgb7jgZnjgILjgq/jgqTjgrrjgpLntprooYzjgZnjgovjgavjga/jgIHjgIzjgYTjgYTjgYjjgI3jgpLjgq/jg6rjg4Pjgq/jgZfjgb7jgZnjgIIiLz4NCgkJPHVpdGV4dCBuYW1lPSJJTkZPUk1BVElPTl9IMjY0X0ZMQVNIUExBWUVSIiB2YWx1ZT0i44GK5L2/44GE44Gu44Kz44Oz44OU44Ol44O844K/44Gr54++5Zyo44Kk44Oz44K544OI44O844Or44GV44KM44Gm44GE44KLIEZsYXNoIFBsYXllciDjga7jg5Djg7zjgrjjg6fjg7Pjga/jgIHjgZPjga7jg5Pjg4fjgqrjgpLjgrXjg53jg7zjg4jjgZfjgabjgYTjgb7jgZvjgpPjgILmnIDmlrDjga4gRmxhc2ggUGxheWVyIOOCkuODgOOCpuODs+ODreODvOODieOBmeOCi+OBq+OBr+OAgeODk+ODh+OCqumgmOWfn+OCkuOCr+ODquODg+OCr+OBl+OBpuOBj+OBoOOBleOBhO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jgrXjgqTjg4njg5Djg7zjgpLlj4LliqDogIXjgavopovjgZvjgosiLz4NCgkJPHVpdGV4dCBuYW1lPSJNVVRFIiB2YWx1ZT0i44Of44Ol44O844OIIi8+DQoJCTx1aXRleHQgbmFtZT0iRE9DV1JBUF9USVRMRSIgdmFsdWU9IlByZXNlbnRlciDmt7vku5jjg5XjgqHjgqTjg6siLz4NCgkJPHVpdGV4dCBuYW1lPSJET0NXUkFQX01TRyIgdmFsdWU9IuODnuOCpOOCs+ODs+ODlOODpeODvOOCv+OBq+S/neWtmCIvPg0KCQk8dWl0ZXh0IG5hbWU9IkRPQ1dSQVBfUFJPTVBUIiB2YWx1ZT0i44Kv44Oq44OD44Kv44GX44Gm44OA44Km44Oz44Ot44O844OJIi8+DQoJPC9sYW5ndWFnZT4NCgk8bGFuZ3VhZ2UgaWQ9Imtv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/siJg6Ii8+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/siJg6ICVuLyV0Ii8+DQoJCTx1aXRleHQgbmFtZT0iUVVJWlBPRF9RVUVTVFlQRV9TVFIiIHZhbHVlPSLsnKDtmJU6ICVzIi8+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+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+2AtOymiOulvCDsooXro4ztlZjroKTrqbQgW+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+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+DQoJCTx1aXRleHQgbmFtZT0iU0NSVUJCQVJTVEFUVVNfVklEUExBWUlORyIgdmFsdWU9IlbDrWRlbyBlbiByZXByb2QuIi8+DQoJCTx1aXRleHQgbmFtZT0iU0NSVUJCQVJTVEFUVVNfTE9BRElORyIgdmFsdWU9IkNhcmdhbmRvIi8+DQoJCTx1aXRleHQgbmFtZT0iU0NSVUJCQVJTVEFUVVNfQlVGRkVSSU5HIiB2YWx1ZT0iQWxtYWNlbmFuZG8gZW4gYsO6ZmVyIi8+DQoJCTx1aXRleHQgbmFtZT0iU0NSVUJCQVJTVEFUVVNfUVVFU1RJT04iIHZhbHVlPSJDb250ZXN0YXIgcHJlZ3VudGEiLz4NCgkJPHVpdGV4dCBuYW1lPSJTQ1JVQkJBUlNUQVRVU19SRVZJRVdRVUlaIiB2YWx1ZT0iUmV2aXNhbmRvIHBydWViYSIvPg0KCQk8IS0tIHN1YnN0aXR1dGlvbjogJW0gPT0gbWludXRlcyByZW1haW5pbmcgLS0+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+DQoJCTx1aXRleHQgbmFtZT0iQklPQlROX1RJVExFIiB2YWx1ZT0iQmlvZ3JhZsOtYSIvPg0KCQk8dWl0ZXh0IG5hbWU9IkRJVklERVJCVE5fVElUTEUiIHZhbHVlPSJ8Ii8+DQoJCTx1aXRleHQgbmFtZT0iQ09OVEFDVEJUTl9USVRMRSIgdmFsdWU9IkNvbnRhY3RvIi8+DQoJCTx1aXRleHQgbmFtZT0iVEFCX1FVSVoiIHZhbHVlPSJQcnVlYmEiLz4NCgkJPHVpdGV4dCBuYW1lPSJUQUJfT1VUTElORSIgdmFsdWU9IkNvbnRvcm5vIi8+DQoJCTx1aXRleHQgbmFtZT0iVEFCX1RIVU1CIiB2YWx1ZT0iTWluaWF0LiIvPg0KCQk8dWl0ZXh0IG5hbWU9IlRBQl9OT1RFUyIgdmFsdWU9Ik5vdGFzIi8+DQoJCTx1aXRleHQgbmFtZT0iVEFCX1NFQVJDSCIgdmFsdWU9IkJ1c2NhciIvPg0KCQk8dWl0ZXh0IG5hbWU9IlNMSURFX0hFQURJTkciIHZhbHVlPSJUw610dWxvIGRlIGRpYXBvc2l0aXZhIi8+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+DQoJCTx1aXRleHQgbmFtZT0iQVRUQUNITkFNRV9IRUFESU5HIiB2YWx1ZT0iTm9tYnJlIGRlIGFyY2hpdm8iLz4NCgkJPHVpdGV4dCBuYW1lPSJBVFRBQ0hTSVpFX0hFQURJTkciIHZhbHVlPSJUYW1hw7FvIi8+DQoJCTx1aXRleHQgbmFtZT0iU0xJREVfTk9URVMiIHZhbHVlPSJOb3RhcyBkZSBkaWFwb3NpdGl2YS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lNpbGVuY2lhciIvPg0KCQk8dWl0ZXh0IG5hbWU9IkRPQ1dSQVBfVElUTEUiIHZhbHVlPSJBcmNoaXZvIGFkanVudG8gZGUgUHJlc2VudGVyIi8+DQoJCTx1aXRleHQgbmFtZT0iRE9DV1JBUF9NU0ciIHZhbHVlPSJHdWFyZGFyIGVuIE1pIFBDIi8+DQoJCTx1aXRleHQgbmFtZT0iRE9DV1JBUF9QUk9NUFQiIHZhbHVlPSJIYWdhIGNsaWMgZW4gRGVzY2FyZ2FyIi8+DQoJPC9sYW5ndWFnZT4NCgk8bGFuZ3VhZ2UgaWQ9InB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+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+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GF0byIvPg0KCQk8dWl0ZXh0IG5hbWU9IlRBQl9RVUlaIiB2YWx1ZT0iUXVlc3QuIi8+DQoJCTx1aXRleHQgbmFtZT0iVEFCX09VVExJTkUiIHZhbHVlPSJFc3F1ZW1hIi8+DQoJCTx1aXRleHQgbmFtZT0iVEFCX1RIVU1CIiB2YWx1ZT0iTWluaSIvPg0KCQk8dWl0ZXh0IG5hbWU9IlRBQl9OT1RFUyIgdmFsdWU9Ik5vdGFzIi8+DQoJCTx1aXRleHQgbmFtZT0iVEFCX1NFQVJDSCIgdmFsdWU9IkJ1c2NhIi8+DQoJCTx1aXRleHQgbmFtZT0iU0xJREVfSEVBRElORyIgdmFsdWU9IlTDrXR1bG8gZG8gc2xpZGUiLz4NCgkJPHVpdGV4dCBuYW1lPSJEVVJBVElPTl9IRUFESU5HIiB2YWx1ZT0iRHVyYcOnw6NvIi8+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+DQoJCTx1aXRleHQgbmFtZT0iU0xJREVfTk9URVMiIHZhbHVlPSJBbm90YcOnw7VlcyBkbyBzbGlkZS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+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+DQoJCTx1aXRleHQgbmFtZT0iUVVJWlBPRF9RVUVTVFlQRV9TVFIiIHZhbHVlPSJUaXBvOiAlcyIvPg0KCQk8dWl0ZXh0IG5hbWU9IlFVSVpQT0RfUVVFU1RZUEVfR1JEIiB2YWx1ZT0iQ29uIHZhbHV0YXppb25lIi8+DQoJCTx1aXRleHQgbmFtZT0iUVVJWlBPRF9RVUVTVFlQRV9TVlkiIHZhbHVlPSJJbmRhZ2luZSIvPg0KCQk8dWl0ZXh0IG5hbWU9IlFVSVpQT0RfUVVJWkFUTVBUX0lORiIgdmFsdWU9IkluZmluaXRpIi8+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+DQoJCTx1aXRleHQgbmFtZT0iRE9DV1JBUF9USVRMRSIgdmFsdWU9IkFsbGVnYXRvIGZpbGUgUHJlc2VudGVyIi8+DQoJCTx1aXRleHQgbmFtZT0iRE9DV1JBUF9NU0ciIHZhbHVlPSJTYWx2YSBpbiBSaXNvcnNlIGRlbCBjb21wdXRlciIvPg0KCQk8dWl0ZXh0IG5hbWU9IkRPQ1dSQVBfUFJPTVBUIiB2YWx1ZT0iQ2xpYyBwZXIgc2NhcmljYXJlIi8+DQoJPC9sYW5ndWFnZT4NCgk8bGFuZ3VhZ2UgaWQ9Im5s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+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+DQoJCTx1aXRleHQgbmFtZT0iU0NSVUJCQVJTVEFUVVNfVklEUExBWUlORyIgdmFsdWU9IlZpZGVvIGFmc3BlbGVuIi8+DQoJCTx1aXRleHQgbmFtZT0iU0NSVUJCQVJTVEFUVVNfTE9BRElORyIgdmFsdWU9IkxhZGVuIi8+DQoJCTx1aXRleHQgbmFtZT0iU0NSVUJCQVJTVEFUVVNfQlVGRkVSSU5HIiB2YWx1ZT0iQnVmZmVyZW4iLz4NCgkJPHVpdGV4dCBuYW1lPSJTQ1JVQkJBUlNUQVRVU19RVUVTVElPTiIgdmFsdWU9IlZyYWFnIG1ldCBhbnR3b29yZCIvPg0KCQk8dWl0ZXh0IG5hbWU9IlNDUlVCQkFSU1RBVFVTX1JFVklFV1FVSVoiIHZhbHVlPSJRdWl6IGNvbnRyb2xlcmVuIi8+DQoJCTwhLS0gc3Vic3RpdHV0aW9uOiAlbSA9PSBtaW51dGVzIHJlbWFpbmluZyAtLT4NCgkJPCEtLSBzdWJzdGl0dXRpb246ICVzID09IHNlY29uZHMgcmVtYWluaW5nIC0tPg0KCQk8dWl0ZXh0IG5hbWU9IkVMQVBTRUQiIHZhbHVlPSJFciByZXN0ZXJlbiAlbSBtaW51dGVuICVzIHNlY29uZGVuIi8+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+DQoJCTx1aXRleHQgbmFtZT0iVEFCX1FVSVoiIHZhbHVlPSJRdWl6Ii8+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+DQoJCTx1aXRleHQgbmFtZT0iU0VBUkNIX0hFQURJTkciIHZhbHVlPSJab2VrZW4gbmFhciB0ZWtzdDoiLz4NCgkJPHVpdGV4dCBuYW1lPSJUSFVNQl9IRUFESU5HIiB2YWx1ZT0iRGlhIi8+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+DQoJCTwhLS1xdWl6IHBvZCBhbmQgbWVzc2FnZSBib3ggdGV4dHMtLT4NCgkJPHVpdGV4dCBuYW1lPSJRVUlaUE9EX1FVSVpfQVRURU1QVCIgdmFsdWU9IlF1aXpwb2dpbmc6Ii8+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+DQoJCTx1aXRleHQgbmFtZT0iUVVJWlBPRF9RVUVTVFlQRV9TVFIiIHZhbHVlPSJUeXBlOiAlcyIvPg0KCQk8dWl0ZXh0IG5hbWU9IlFVSVpQT0RfUVVFU1RZUEVfR1JEIiB2YWx1ZT0iVGVsdCB2b29yIHNjb3JlIi8+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+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+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+DQoJCTx1aWZvbnQgbmFtZT0iRk9OVF9QUkVTRU5UQVRJT05OQU1FIiB2YWx1ZT0i5a6L5L2TLTE4MDMwLDE0LGZhbHNlLGZhbHNlLHRydWUiLz4NCgkJPHVpZm9udCBuYW1lPSJGT05UX1BSRVNFTlRFUk5BTUUiIHZhbHVlPSLlrovkvZMtMTgwMzAsMTQsdHJ1ZSxmYWxzZSx0cnVlIi8+DQoJCTx1aWZvbnQgbmFtZT0iRk9OVF9QUkVTRU5URVJUSVRMRSIgdmFsdWU9IuWui+S9ky0xODAzMCwxMyxmYWxzZSxmYWxzZSx0cnVlIi8+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+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+DQoJCTx1aWZvbnQgbmFtZT0iRk9OVF9NU0dCT1hfV0lOVElUTEUiIHZhbHVlPSLlrovkvZMtMTgwMzAsMTIsdHJ1ZSxmYWxzZSx0cnVlIi8+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+DQoJCTx1aWZvbnQgbmFtZT0iRk9OVF9RVUlaUE9EX1FVRVNUSU9OX1NDT1JFIiB2YWx1ZT0i5a6L5L2TLTE4MDMwLDEwLGZhbHNlLGZhbHNlLHRydWUiLz4NCgkJPHVpZm9udCBuYW1lPSJGT05UX1FVSVpQT0RfUVVFU1RJT05fU0NPUkVfVkFMVUUiIHZhbHVlPSLlrovkvZMtMTgwMzAsMTAsdHJ1ZSxmYWxzZSx0cnVlIi8+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+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+S9ky0xODAzMCwxMCxmYWxzZSxmYWxzZSx0cnVlIi8+DQoJCTx1aWZvbnQgbmFtZT0iRk9OVF9RVUlaUE9EX1FVSVpfUVVFU1RJT05fQVRURU1QVEVEX1ZBTFVFIiB2YWx1ZT0i5a6L5L2TLTE4MDMwLDEwLHRydWUsZmFsc2UsdHJ1ZSIvPg0KCQk8dWlmb250IG5hbWU9IkZPTlRfUVVJWlBPRF9RVUlaX1NDT1JFX1RBRyIgdmFsdWU9IuWui+S9ky0xODAzMCwxMix0cnVlLGZhbHNlLHRydWUiLz4NCgkJPHVpZm9udCBuYW1lPSJGT05UX1FVSVpQT0RfUVVJWl9TQ09SRSIgdmFsdWU9IuWui+S9ky0xODAzMCwxMCxmYWxzZSxmYWxzZSx0cnVlIi8+DQoJCTx1aWZvbnQgbmFtZT0iRk9OVF9RVUlaUE9EX1FVSVpfU0NPUkVfVkFMVUUiIHZhbHVlPSLlrovkvZMtMTgwMzAsMTAsdHJ1ZSxmYWxzZSx0cnVlIi8+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+S9ky0xODAzMCwxMCxmYWxzZSxmYWxzZSx0cnVlIi8+DQoJCTx1aWZvbnQgbmFtZT0iRk9OVF9RVUlaUE9EX1FVSVpfUEFTU1NDT1JFX1ZBTFVFIiB2YWx1ZT0i5a6L5L2TLTE4MDMwLDEwLHRydWUsZmFsc2UsdHJ1ZSIvPg0KCQk8IS0tIHVpdGV4dCAtLT4NCgkJPCEtLSBzdWJzdGl0dXRpb246ICVuID09IHNsaWRlIG51bWJlciAtLT4NCgkJPHVpdGV4dCBuYW1lPSJVTk5BTUVEU0xJREVUSVRMRSIgdmFsdWU9IuW5u+eBr+eJhyAlbiIvPg0KCQk8IS0tIHN1YnN0aXR1dGlvbjogJW4gPT0gc2xpZGUgbnVtYmVyIC0tPg0KCQk8IS0tIHN1YnN0aXR1dGlvbjogJXQgPT0gdG90YWwgc2xpZGUgY291bnQgLS0+DQoJCTx1aXRleHQgbmFtZT0iU0NSVUJCQVJTVEFUVVNfU0xJREVJTkZPIiB2YWx1ZT0i5bm754Gv54mHICVuIC8gJXQgfCAiLz4NCgkJPHVpdGV4dCBuYW1lPSJTQ1JVQkJBUlNUQVRVU19TVE9QUEVEIiB2YWx1ZT0i5bey5YGc5q2iIi8+DQoJCTx1aXRleHQgbmFtZT0iU0NSVUJCQVJTVEFUVVNfUExBWUlORyIgdmFsdWU9Iuato+WcqOaSreaUviIvPg0KCQk8dWl0ZXh0IG5hbWU9IlNDUlVCQkFSU1RBVFVTX05PQVVESU8iIHZhbHVlPSLml6Dpn7PpopEiLz4NCgkJPHVpdGV4dCBuYW1lPSJTQ1JVQkJBUlNUQVRVU19WSURQTEFZSU5HIiB2YWx1ZT0i6KeG6aKR5pKt5pS+Ii8+DQoJCTx1aXRleHQgbmFtZT0iU0NSVUJCQVJTVEFUVVNfTE9BRElORyIgdmFsdWU9Iuato+WcqOi9veWFpSIvPg0KCQk8dWl0ZXh0IG5hbWU9IlNDUlVCQkFSU1RBVFVTX0JVRkZFUklORyIgdmFsdWU9Iuato+WcqOi/m+ihjOe8k+WGsuWkhOeQhiIvPg0KCQk8dWl0ZXh0IG5hbWU9IlNDUlVCQkFSU1RBVFVTX1FVRVNUSU9OIiB2YWx1ZT0i5Zue562U6Zeu6aKYIi8+DQoJCTx1aXRleHQgbmFtZT0iU0NSVUJCQVJTVEFUVVNfUkVWSUVXUVVJWiIgdmFsdWU9Iuato+WcqOWuoemYhea1i+mqjCIvPg0KCQk8IS0tIHN1YnN0aXR1dGlvbjogJW0gPT0gbWludXRlcyByZW1haW5pbmcgLS0+DQoJCTwhLS0gc3Vic3RpdHV0aW9uOiAlcyA9PSBzZWNvbmRzIHJlbWFpbmluZyAtLT4NCgkJPHVpdGV4dCBuYW1lPSJFTEFQU0VEIiB2YWx1ZT0i5Ymp5L2ZICVtIOWIhumSnyAlcyDnp5IiLz4NCgkJPHVpdGV4dCBuYW1lPSJOT1RGT1VORCIgdmFsdWU9IuacquaJvuWIsOS7u+S9leWGheWuuSIvPg0KCQk8dWl0ZXh0IG5hbWU9IkFUVEFDSE1FTlRTIiB2YWx1ZT0i6ZmE5Lu2Ii8+DQoJCTwhLS0gc3Vic3RpdHV0aW9uOiAlcCA9PSBjdXJyZW50IHNwZWFrZXIncyB0aXRsZSAtLT4NCgkJPHVpdGV4dCBuYW1lPSJCSU9XSU5fVElUTEUiIHZhbHVlPSLkuKrkurrnroDku4s6ICVwIi8+DQoJCTx1aXRleHQgbmFtZT0iQklPQlROX1RJVExFIiB2YWx1ZT0i5Liq5Lq6566A5LuLIi8+DQoJCTx1aXRleHQgbmFtZT0iRElWSURFUkJUTl9USVRMRSIgdmFsdWU9InwiLz4NCgkJPHVpdGV4dCBuYW1lPSJDT05UQUNUQlROX1RJVExFIiB2YWx1ZT0i6IGU57O75pa55byPIi8+DQoJCTx1aXRleHQgbmFtZT0iVEFCX1FVSVoiIHZhbHVlPSLmtYvpqowiLz4NCgkJPHVpdGV4dCBuYW1lPSJUQUJfT1VUTElORSIgdmFsdWU9IuWkp+e6siIvPg0KCQk8dWl0ZXh0IG5hbWU9IlRBQl9USFVNQiIgdmFsdWU9Iue8qeeVpeWbviIvPg0KCQk8dWl0ZXh0IG5hbWU9IlRBQl9OT1RFUyIgdmFsdWU9IuWkh+azqCIvPg0KCQk8dWl0ZXh0IG5hbWU9IlRBQl9TRUFSQ0giIHZhbHVlPSLmkJzntKIiLz4NCgkJPHVpdGV4dCBuYW1lPSJTTElERV9IRUFESU5HIiB2YWx1ZT0i5bm754Gv54mH5qCH6aKYIi8+DQoJCTx1aXRleHQgbmFtZT0iRFVSQVRJT05fSEVBRElORyIgdmFsdWU9IuaMgee7reaXtumXtCIvPg0KCQk8dWl0ZXh0IG5hbWU9IlNFQVJDSF9IRUFESU5HIiB2YWx1ZT0i5pCc57Si5paH5pysOiIvPg0KCQk8dWl0ZXh0IG5hbWU9IlRIVU1CX0hFQURJTkciIHZhbHVlPSLlubvnga/niYciLz4NCgkJPHVpdGV4dCBuYW1lPSJUSFVNQl9JTkZPIiB2YWx1ZT0i5bm754Gv54mH5qCH6aKYL+aMgee7reaXtumXtCIvPg0KCQk8dWl0ZXh0IG5hbWU9IkFUVEFDSE5BTUVfSEVBRElORyIgdmFsdWU9IuaWh+S7tuWQjSIvPg0KCQk8dWl0ZXh0IG5hbWU9IkFUVEFDSFNJWkVfSEVBRElORyIgdmFsdWU9IuWkp+WwjyIvPg0KCQk8dWl0ZXh0IG5hbWU9IlNMSURFX05PVEVTIiB2YWx1ZT0i5bm754Gv54mH5aSH5rOo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8L2NvbmZpZ3VyYXRpb24+DQo="/>
  <p:tag name="MMPROD_UIDATA" val="&lt;database version=&quot;7.0&quot;&gt;&lt;object type=&quot;1&quot; unique_id=&quot;10001&quot;&gt;&lt;property id=&quot;20141&quot; value=&quot;Test&quot;/&gt;&lt;property id=&quot;20144&quot; value=&quot;0&quot;/&gt;&lt;property id=&quot;20146&quot; value=&quot;0&quot;/&gt;&lt;property id=&quot;20147&quot; value=&quot;0&quot;/&gt;&lt;property id=&quot;20148&quot; value=&quot;0&quot;/&gt;&lt;property id=&quot;20180&quot; value=&quot;1&quot;/&gt;&lt;property id=&quot;20181&quot; value=&quot;1祡䘌໴챐ຸᄸ&quot;/&gt;&lt;property id=&quot;20182&quot; value=&quot;0&quot;/&gt;&lt;property id=&quot;20183&quot; value=&quot;1&quot;/&gt;&lt;property id=&quot;20184&quot; value=&quot;7&quot;/&gt;&lt;property id=&quot;20191&quot; value=&quot;McGill&quot;/&gt;&lt;property id=&quot;20192&quot; value=&quot;https://connect.mcgill.ca&quot;/&gt;&lt;property id=&quot;20193&quot; value=&quot;0&quot;/&gt;&lt;property id=&quot;20224&quot; value=&quot;C:\Users\jremil3.CAMPUS\Desktop\Untitled&quot;/&gt;&lt;property id=&quot;20226&quot; value=&quot;C:\Users\jremil3.CAMPUS\Documents\Test.pptx&quot;/&gt;&lt;property id=&quot;20250&quot; value=&quot;0&quot;/&gt;&lt;property id=&quot;20251&quot; value=&quot;0&quot;/&gt;&lt;property id=&quot;20259&quot; value=&quot;0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2&quot; value=&quot;1&quot;/&gt;&lt;property id=&quot;20303&quot; value=&quot;-1&quot;/&gt;&lt;property id=&quot;20307&quot; value=&quot;256&quot;/&gt;&lt;property id=&quot;20309&quot; value=&quot;-1&quot;/&gt;&lt;/object&gt;&lt;/object&gt;&lt;object type=&quot;4&quot; unique_id=&quot;10282&quot;&gt;&lt;/object&gt;&lt;object type=&quot;10&quot; unique_id=&quot;10313&quot;&gt;&lt;object type=&quot;11&quot; unique_id=&quot;10314&quot;&gt;&lt;property id=&quot;20180&quot; value=&quot;1&quot;/&gt;&lt;property id=&quot;20181&quot; value=&quot;1祡䘌໴챐ຸᄸ&quot;/&gt;&lt;property id=&quot;20182&quot; value=&quot;0&quot;/&gt;&lt;property id=&quot;20183&quot; value=&quot;1&quot;/&gt;&lt;/object&gt;&lt;object type=&quot;12&quot; unique_id=&quot;10315&quot;&gt;&lt;/object&gt;&lt;/object&gt;&lt;/object&gt;&lt;/database&gt;"/>
  <p:tag name="SECTOMILLISECCONVERTED" val="1"/>
  <p:tag name="ARTICULATE_DESIGN_ID_3_BODY SLIDES" val="KxQTgtwD"/>
  <p:tag name="ARTICULATE_DESIGN_ID_SCS_INSTRUCTOR_TEMPLATE_FINAL_11JUL12" val="WjYDd5jC"/>
  <p:tag name="ARTICULATE_DESIGN_ID_2_COURSE INTRODUCTION SECTION SLIDES" val="2oyRvmTz"/>
  <p:tag name="ARTICULATE_DESIGN_ID_6_END SLIDE" val="e5N5rkiO"/>
  <p:tag name="ARTICULATE_DESIGN_ID_5_SUMMARY SLIDES" val="0yFMtatE"/>
  <p:tag name="ARTICULATE_DESIGN_ID_4_ACTIVITY SLIDES" val="3IO17py5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3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S_Instructor_Template_JAN-2016_01.potx" id="{B171CE54-E0B3-48DE-B5A6-CB6B870F1157}" vid="{F7B45810-D9B3-47F4-BC11-88D54CF40A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b4e6460-2876-4d3d-92e1-67f1bf6a2c5e">
      <UserInfo>
        <DisplayName>Nicholas McGowan, Mr</DisplayName>
        <AccountId>123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6ABED0D74C1D439B0C9D6223BB6C66" ma:contentTypeVersion="7" ma:contentTypeDescription="Create a new document." ma:contentTypeScope="" ma:versionID="4c01ee1a4d58c38c2f12cf5e6ecbbff9">
  <xsd:schema xmlns:xsd="http://www.w3.org/2001/XMLSchema" xmlns:xs="http://www.w3.org/2001/XMLSchema" xmlns:p="http://schemas.microsoft.com/office/2006/metadata/properties" xmlns:ns2="bb4e6460-2876-4d3d-92e1-67f1bf6a2c5e" xmlns:ns3="29e9bb39-b219-4930-84ad-fc12e69755f2" targetNamespace="http://schemas.microsoft.com/office/2006/metadata/properties" ma:root="true" ma:fieldsID="d7349093509954271fb7cca2096a6a38" ns2:_="" ns3:_="">
    <xsd:import namespace="bb4e6460-2876-4d3d-92e1-67f1bf6a2c5e"/>
    <xsd:import namespace="29e9bb39-b219-4930-84ad-fc12e69755f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4e6460-2876-4d3d-92e1-67f1bf6a2c5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9bb39-b219-4930-84ad-fc12e6975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C04534-A83D-479B-A773-C2FB7E41A064}">
  <ds:schemaRefs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bb4e6460-2876-4d3d-92e1-67f1bf6a2c5e"/>
    <ds:schemaRef ds:uri="29e9bb39-b219-4930-84ad-fc12e69755f2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903DFE1-BF49-4471-AE5E-6338C9A138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4e6460-2876-4d3d-92e1-67f1bf6a2c5e"/>
    <ds:schemaRef ds:uri="29e9bb39-b219-4930-84ad-fc12e69755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E3EF9B-59AC-447C-85F7-757DD6B349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216</Words>
  <Application>Microsoft Office PowerPoint</Application>
  <PresentationFormat>Widescreen</PresentationFormat>
  <Paragraphs>64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3_Body Slides</vt:lpstr>
      <vt:lpstr>Data Science Capstone Project YCBS 299 Module: Introduction to the Capstone Project Nabil Beitinjaneh and Alejandro Gutierrez Lopez</vt:lpstr>
      <vt:lpstr>Types of Projects</vt:lpstr>
      <vt:lpstr>Project A – Defined Question</vt:lpstr>
      <vt:lpstr>Session 4</vt:lpstr>
      <vt:lpstr>Session 4 - IT 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YCBS 299 Module: Introduction to the Capstone Project Nabil Beitinjaneh and Alejandro Gutierrez Lopez</dc:title>
  <dc:creator>Alejandro Gutierrez Lopez, Mr.</dc:creator>
  <cp:lastModifiedBy>Alejandro Gutiérrez López</cp:lastModifiedBy>
  <cp:revision>50</cp:revision>
  <dcterms:created xsi:type="dcterms:W3CDTF">2021-01-28T21:33:42Z</dcterms:created>
  <dcterms:modified xsi:type="dcterms:W3CDTF">2025-08-28T00:43:03Z</dcterms:modified>
</cp:coreProperties>
</file>