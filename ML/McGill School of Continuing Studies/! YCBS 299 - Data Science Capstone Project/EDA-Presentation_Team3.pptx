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F433A1-5EB8-45C4-9CC9-ED9CB996C568}">
  <a:tblStyle styleId="{0FF433A1-5EB8-45C4-9CC9-ED9CB996C56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SAM : 1-7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HAMMED : 8-11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Ekué : 12-14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Pak: 15-19</a:t>
            </a:r>
            <a:endParaRPr sz="18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673a6bcd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673a6bcd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4d11e5cb2_3_20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g384d11e5cb2_3_203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SAM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84d11e5cb2_3_203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673a6bc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673a6bc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7aef3efe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7aef3efe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7aef3efe4_0_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g387aef3efe4_0_11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SAM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87aef3efe4_0_11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4d11e5cb2_3_2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g384d11e5cb2_3_210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HAMMED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84d11e5cb2_3_210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7aef3efe4_0_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g387aef3efe4_0_43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Sam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87aef3efe4_0_43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7bee92bb0_0_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g387bee92bb0_0_9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HAMMED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87bee92bb0_0_9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4d11e5cb2_3_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g384d11e5cb2_3_9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HAMMED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84d11e5cb2_3_9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7aef3efe4_3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g387aef3efe4_3_3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HAMMED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87aef3efe4_3_3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4d11e5cb2_3_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g384d11e5cb2_3_36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Ekue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84d11e5cb2_3_36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4d11e5cb2_3_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g384d11e5cb2_3_25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EKUÉ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84d11e5cb2_3_25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4d11e5cb2_3_1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g384d11e5cb2_3_127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EKUÉ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05" name="Google Shape;205;g384d11e5cb2_3_127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4d11e5cb2_3_1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g384d11e5cb2_3_141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EKUÉ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15" name="Google Shape;215;g384d11e5cb2_3_141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4d11e5cb2_3_161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84d11e5cb2_3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EKUÉ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84d11e5cb2_3_19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g384d11e5cb2_3_194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PAK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84d11e5cb2_3_194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4d11e5cb2_3_33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84d11e5cb2_3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PAK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4d11e5cb2_3_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g384d11e5cb2_3_44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PAK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84d11e5cb2_3_44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84d11e5cb2_3_17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84d11e5cb2_3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PAK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hyperlink" Target="https://donnees.montreal.ca/dataset/interventions-service-securite-incendie-montreal#:~:text=,de%203%20%C3%A0%205%20pompier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nnees.montreal.ca/dataset/interventions-service-securite-incendie-montreal#:~:text=Ensemble%20de%20donn%C3%A9es%20listant%20les,aux%20m%C3%A9dias%20et%20aux%20assureurs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hyperlink" Target="https://donnees.montreal.ca/dataset/interventions-service-securite-incendie-montreal#:~:text=,de%203%20%C3%A0%205%20pompier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nnees.montreal.ca/dataset/interventions-service-securite-incendie-montreal#:~:text=Ensemble%20de%20donn%C3%A9es%20listant%20les,aux%20m%C3%A9dias%20et%20aux%20assureur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nnees.montreal.ca/dataset/interventions-service-securite-incendie-montreal#:~:text=Ensemble%20de%20donn%C3%A9es%20listant%20les,aux%20m%C3%A9dias%20et%20aux%20assureurs" TargetMode="External"/><Relationship Id="rId4" Type="http://schemas.openxmlformats.org/officeDocument/2006/relationships/image" Target="../media/image6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hyperlink" Target="https://donnees.montreal.ca/dataset/interventions-service-securite-incendie-montreal#:~:text=,de%203%20%C3%A0%205%20pompier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nnees.montreal.ca/dataset/interventions-service-securite-incendie-montreal#:~:text=Ensemble%20de%20donn%C3%A9es%20listant%20les,aux%20m%C3%A9dias%20et%20aux%20assureurs" TargetMode="External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nnees.montreal.ca/dataset/interventions-service-securite-incendie-montreal#:~:text=Ensemble%20de%20donn%C3%A9es%20listant%20les,aux%20m%C3%A9dias%20et%20aux%20assureurs" TargetMode="External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nnees.montreal.ca/dataset/interventions-service-securite-incendie-montreal#:~:text=Ensemble%20de%20donn%C3%A9es%20listant%20les,aux%20m%C3%A9dias%20et%20aux%20assureurs" TargetMode="External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hyperlink" Target="https://donnees.montreal.ca/dataset/interventions-service-securite-incendie-montreal#:~:text=,de%203%20%C3%A0%205%20pompiers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hyperlink" Target="https://donnees.montreal.ca/dataset/interventions-service-securite-incendie-montreal#:~:text=,de%203%20%C3%A0%205%20pompiers" TargetMode="External"/><Relationship Id="rId6" Type="http://schemas.openxmlformats.org/officeDocument/2006/relationships/hyperlink" Target="https://donnees.montreal.ca/dataset/interventions-service-securite-incendie-montreal#:~:text=Les%20donn%C3%A9es%20ont%20%C3%A9t%C3%A9%20obfusqu%C3%A9es,la%20protection%20des%20renseignements%20personnels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 title="MCGIlll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0" y="0"/>
            <a:ext cx="9117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>
            <p:ph type="ctrTitle"/>
          </p:nvPr>
        </p:nvSpPr>
        <p:spPr>
          <a:xfrm>
            <a:off x="0" y="1290200"/>
            <a:ext cx="7650900" cy="10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078"/>
              <a:buFont typeface="Arial"/>
              <a:buNone/>
            </a:pPr>
            <a:r>
              <a:rPr b="1" lang="en" sz="2677">
                <a:latin typeface="Calibri"/>
                <a:ea typeface="Calibri"/>
                <a:cs typeface="Calibri"/>
                <a:sym typeface="Calibri"/>
              </a:rPr>
              <a:t>Forecasting Neighborhood-Level Fire Risk in Montreal</a:t>
            </a:r>
            <a:endParaRPr b="1" sz="2677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Phase 1 : Exploratory Data Analysis Results and Initial Findings</a:t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2051925" y="3046300"/>
            <a:ext cx="4148700" cy="4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165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Team 3</a:t>
            </a:r>
            <a:r>
              <a:rPr lang="en" sz="116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i="1" lang="en" sz="116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Osama Wanis, </a:t>
            </a:r>
            <a:r>
              <a:rPr i="1" lang="en" sz="116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Hammed Akande,</a:t>
            </a:r>
            <a:r>
              <a:rPr i="1" lang="en" sz="116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Pak Lo,  Ekue Afanou</a:t>
            </a:r>
            <a:endParaRPr sz="116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119054" y="4194625"/>
            <a:ext cx="1561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September 30, 2025</a:t>
            </a:r>
            <a:endParaRPr b="1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0"/>
            <a:ext cx="88323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Outcome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88050" y="436500"/>
            <a:ext cx="8679600" cy="45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Introduction &amp; Objectives</a:t>
            </a:r>
            <a:br>
              <a:rPr b="1" lang="en" sz="1300">
                <a:solidFill>
                  <a:schemeClr val="dk1"/>
                </a:solidFill>
              </a:rPr>
            </a:br>
            <a:endParaRPr sz="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Exploratory Data Analysis (EDA)</a:t>
            </a:r>
            <a:br>
              <a:rPr b="1" lang="en" sz="1300">
                <a:solidFill>
                  <a:schemeClr val="dk1"/>
                </a:solidFill>
              </a:rPr>
            </a:br>
            <a:endParaRPr b="1"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Data qualities issues (fire incidents)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500">
                <a:solidFill>
                  <a:schemeClr val="dk1"/>
                </a:solidFill>
              </a:rPr>
            </a:br>
            <a:endParaRPr sz="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Key Insights &amp; Next Steps</a:t>
            </a:r>
            <a:br>
              <a:rPr b="1" lang="en" sz="1300">
                <a:solidFill>
                  <a:schemeClr val="dk1"/>
                </a:solidFill>
              </a:rPr>
            </a:br>
            <a:endParaRPr b="1" sz="5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Overview and temporal trends analysis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2" marL="13716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en" sz="1300">
                <a:solidFill>
                  <a:schemeClr val="dk1"/>
                </a:solidFill>
              </a:rPr>
              <a:t>General overview of incidents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2" marL="13716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en" sz="1300">
                <a:solidFill>
                  <a:schemeClr val="dk1"/>
                </a:solidFill>
              </a:rPr>
              <a:t>Temporal evolution (by month/week/day)</a:t>
            </a:r>
            <a:endParaRPr sz="1300"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2" marL="13716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en" sz="1300">
                <a:solidFill>
                  <a:schemeClr val="dk1"/>
                </a:solidFill>
              </a:rPr>
              <a:t>Seasonality analysis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Incident type distribution 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Geographic distribution of fire incidents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Directions for predictive modeling or prevention strategies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67" name="Google Shape;67;p15" title="sourc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4750" y="895225"/>
            <a:ext cx="3656400" cy="2758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MCGIlll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0" y="0"/>
            <a:ext cx="9117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/>
          <p:nvPr/>
        </p:nvSpPr>
        <p:spPr>
          <a:xfrm>
            <a:off x="274320" y="4823460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600"/>
              <a:buFont typeface="Calibri"/>
              <a:buNone/>
            </a:pPr>
            <a:r>
              <a:rPr lang="en" sz="6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[2]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/>
          <p:nvPr>
            <p:ph idx="4294967295" type="title"/>
          </p:nvPr>
        </p:nvSpPr>
        <p:spPr>
          <a:xfrm>
            <a:off x="204275" y="1570950"/>
            <a:ext cx="7125300" cy="10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620">
                <a:solidFill>
                  <a:srgbClr val="FF0000"/>
                </a:solidFill>
              </a:rPr>
              <a:t>1 </a:t>
            </a:r>
            <a:r>
              <a:rPr b="1" lang="en" sz="3620">
                <a:solidFill>
                  <a:srgbClr val="FF0000"/>
                </a:solidFill>
              </a:rPr>
              <a:t>- </a:t>
            </a:r>
            <a:r>
              <a:rPr b="1" lang="en" sz="3620">
                <a:solidFill>
                  <a:srgbClr val="FF0000"/>
                </a:solidFill>
              </a:rPr>
              <a:t>Introduction &amp; Objectives</a:t>
            </a:r>
            <a:endParaRPr b="1" sz="362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62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62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620">
              <a:solidFill>
                <a:srgbClr val="FF0000"/>
              </a:solidFill>
            </a:endParaRPr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407450" y="783150"/>
            <a:ext cx="862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Context of fire risk forecasting project in Montreal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Fire incidents pose risks to public safety, property, and urban resilience.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Understanding when and where fires occur can support prevention and resource planning.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Support the </a:t>
            </a:r>
            <a:r>
              <a:rPr lang="en" sz="1400">
                <a:solidFill>
                  <a:schemeClr val="dk1"/>
                </a:solidFill>
              </a:rPr>
              <a:t>development</a:t>
            </a:r>
            <a:r>
              <a:rPr lang="en" sz="1400">
                <a:solidFill>
                  <a:schemeClr val="dk1"/>
                </a:solidFill>
              </a:rPr>
              <a:t> of prevention policies.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Purpose of the EDA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Identify data issues such as inconsistent date and time format and missing columns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Examine temporal and spatial patterns of fire incidents.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Explore relationships with demographic and geographic factors.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0"/>
            <a:ext cx="88323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Introduction &amp; Objectives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84" name="Google Shape;84;p17" title="0_zTV0EpmmZQdJRpVk.gif"/>
          <p:cNvPicPr preferRelativeResize="0"/>
          <p:nvPr/>
        </p:nvPicPr>
        <p:blipFill/>
        <p:spPr>
          <a:xfrm>
            <a:off x="6501500" y="3636650"/>
            <a:ext cx="2530649" cy="13630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0"/>
            <a:ext cx="88323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Purpose of the EDA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 rotWithShape="1">
          <a:blip r:embed="rId3">
            <a:alphaModFix/>
          </a:blip>
          <a:srcRect b="60836" l="0" r="0" t="0"/>
          <a:stretch/>
        </p:blipFill>
        <p:spPr>
          <a:xfrm>
            <a:off x="509300" y="697750"/>
            <a:ext cx="8177676" cy="803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/>
          <p:nvPr/>
        </p:nvSpPr>
        <p:spPr>
          <a:xfrm>
            <a:off x="6239450" y="576350"/>
            <a:ext cx="915600" cy="5274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/>
          <p:nvPr/>
        </p:nvSpPr>
        <p:spPr>
          <a:xfrm rot="-5406086">
            <a:off x="6144228" y="1558250"/>
            <a:ext cx="1016702" cy="10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0175" y="1951588"/>
            <a:ext cx="2457349" cy="28756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4325" y="2173574"/>
            <a:ext cx="2818699" cy="257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951599"/>
            <a:ext cx="2924775" cy="2794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/>
          <p:nvPr/>
        </p:nvSpPr>
        <p:spPr>
          <a:xfrm>
            <a:off x="274320" y="4823460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600"/>
              <a:buFont typeface="Calibri"/>
              <a:buNone/>
            </a:pPr>
            <a:r>
              <a:rPr b="0" i="0" lang="en" sz="600" u="sng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9"/>
          <p:cNvSpPr txBox="1"/>
          <p:nvPr>
            <p:ph idx="4294967295" type="title"/>
          </p:nvPr>
        </p:nvSpPr>
        <p:spPr>
          <a:xfrm>
            <a:off x="311700" y="0"/>
            <a:ext cx="88323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Exploration of Data Sources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graphicFrame>
        <p:nvGraphicFramePr>
          <p:cNvPr id="105" name="Google Shape;105;p19"/>
          <p:cNvGraphicFramePr/>
          <p:nvPr/>
        </p:nvGraphicFramePr>
        <p:xfrm>
          <a:off x="1819701" y="10218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{0FF433A1-5EB8-45C4-9CC9-ED9CB996C568}</a:tableStyleId>
              </a:tblPr>
              <a:tblGrid>
                <a:gridCol w="2283400"/>
                <a:gridCol w="924300"/>
                <a:gridCol w="1321775"/>
                <a:gridCol w="1321775"/>
              </a:tblGrid>
              <a:tr h="61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Datasets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Explored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(EDA)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Included in this presentation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</a:rPr>
                        <a:t>More Exploration in the future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6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Interventions</a:t>
                      </a:r>
                      <a:endParaRPr b="1"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6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Crime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Property Assessment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17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Fire stations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40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Census Program Data 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06" name="Google Shape;106;p19"/>
          <p:cNvPicPr preferRelativeResize="0"/>
          <p:nvPr/>
        </p:nvPicPr>
        <p:blipFill rotWithShape="1">
          <a:blip r:embed="rId4">
            <a:alphaModFix/>
          </a:blip>
          <a:srcRect b="10957" l="51264" r="0" t="19775"/>
          <a:stretch/>
        </p:blipFill>
        <p:spPr>
          <a:xfrm>
            <a:off x="5394644" y="2585167"/>
            <a:ext cx="278525" cy="234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 rotWithShape="1">
          <a:blip r:embed="rId4">
            <a:alphaModFix/>
          </a:blip>
          <a:srcRect b="9849" l="0" r="52392" t="13197"/>
          <a:stretch/>
        </p:blipFill>
        <p:spPr>
          <a:xfrm>
            <a:off x="4317669" y="1900204"/>
            <a:ext cx="278525" cy="2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 rotWithShape="1">
          <a:blip r:embed="rId4">
            <a:alphaModFix/>
          </a:blip>
          <a:srcRect b="9849" l="0" r="52392" t="13197"/>
          <a:stretch/>
        </p:blipFill>
        <p:spPr>
          <a:xfrm>
            <a:off x="4317669" y="2181879"/>
            <a:ext cx="278525" cy="2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 rotWithShape="1">
          <a:blip r:embed="rId4">
            <a:alphaModFix/>
          </a:blip>
          <a:srcRect b="9849" l="0" r="52392" t="13197"/>
          <a:stretch/>
        </p:blipFill>
        <p:spPr>
          <a:xfrm>
            <a:off x="4317669" y="2583954"/>
            <a:ext cx="278525" cy="2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 rotWithShape="1">
          <a:blip r:embed="rId4">
            <a:alphaModFix/>
          </a:blip>
          <a:srcRect b="9849" l="0" r="52392" t="13197"/>
          <a:stretch/>
        </p:blipFill>
        <p:spPr>
          <a:xfrm>
            <a:off x="4317669" y="2949829"/>
            <a:ext cx="278525" cy="2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4">
            <a:alphaModFix/>
          </a:blip>
          <a:srcRect b="9849" l="0" r="52392" t="13197"/>
          <a:stretch/>
        </p:blipFill>
        <p:spPr>
          <a:xfrm>
            <a:off x="4317669" y="3315704"/>
            <a:ext cx="278525" cy="2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 rotWithShape="1">
          <a:blip r:embed="rId4">
            <a:alphaModFix/>
          </a:blip>
          <a:srcRect b="9849" l="0" r="52392" t="13197"/>
          <a:stretch/>
        </p:blipFill>
        <p:spPr>
          <a:xfrm>
            <a:off x="5394644" y="1900204"/>
            <a:ext cx="278525" cy="2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 rotWithShape="1">
          <a:blip r:embed="rId4">
            <a:alphaModFix/>
          </a:blip>
          <a:srcRect b="10957" l="51264" r="0" t="19775"/>
          <a:stretch/>
        </p:blipFill>
        <p:spPr>
          <a:xfrm>
            <a:off x="5394644" y="2951029"/>
            <a:ext cx="278525" cy="234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 rotWithShape="1">
          <a:blip r:embed="rId4">
            <a:alphaModFix/>
          </a:blip>
          <a:srcRect b="10957" l="51264" r="0" t="19775"/>
          <a:stretch/>
        </p:blipFill>
        <p:spPr>
          <a:xfrm>
            <a:off x="5394644" y="3316904"/>
            <a:ext cx="278525" cy="23437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" name="Google Shape;116;p19"/>
          <p:cNvPicPr preferRelativeResize="0"/>
          <p:nvPr/>
        </p:nvPicPr>
        <p:blipFill rotWithShape="1">
          <a:blip r:embed="rId4">
            <a:alphaModFix/>
          </a:blip>
          <a:srcRect b="9849" l="0" r="52392" t="13197"/>
          <a:stretch/>
        </p:blipFill>
        <p:spPr>
          <a:xfrm>
            <a:off x="6814394" y="2195067"/>
            <a:ext cx="278525" cy="2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 rotWithShape="1">
          <a:blip r:embed="rId4">
            <a:alphaModFix/>
          </a:blip>
          <a:srcRect b="9849" l="0" r="52392" t="13197"/>
          <a:stretch/>
        </p:blipFill>
        <p:spPr>
          <a:xfrm>
            <a:off x="6814394" y="1865215"/>
            <a:ext cx="278525" cy="2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/>
          <p:cNvPicPr preferRelativeResize="0"/>
          <p:nvPr/>
        </p:nvPicPr>
        <p:blipFill rotWithShape="1">
          <a:blip r:embed="rId4">
            <a:alphaModFix/>
          </a:blip>
          <a:srcRect b="9849" l="0" r="52392" t="13197"/>
          <a:stretch/>
        </p:blipFill>
        <p:spPr>
          <a:xfrm>
            <a:off x="6814394" y="2557029"/>
            <a:ext cx="278525" cy="2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/>
          <p:cNvPicPr preferRelativeResize="0"/>
          <p:nvPr/>
        </p:nvPicPr>
        <p:blipFill rotWithShape="1">
          <a:blip r:embed="rId4">
            <a:alphaModFix/>
          </a:blip>
          <a:srcRect b="9849" l="0" r="52392" t="13197"/>
          <a:stretch/>
        </p:blipFill>
        <p:spPr>
          <a:xfrm>
            <a:off x="6814394" y="2918979"/>
            <a:ext cx="278525" cy="2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/>
          <p:cNvPicPr preferRelativeResize="0"/>
          <p:nvPr/>
        </p:nvPicPr>
        <p:blipFill rotWithShape="1">
          <a:blip r:embed="rId4">
            <a:alphaModFix/>
          </a:blip>
          <a:srcRect b="9849" l="0" r="52392" t="13197"/>
          <a:stretch/>
        </p:blipFill>
        <p:spPr>
          <a:xfrm>
            <a:off x="6861819" y="3280929"/>
            <a:ext cx="278525" cy="2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 rotWithShape="1">
          <a:blip r:embed="rId4">
            <a:alphaModFix/>
          </a:blip>
          <a:srcRect b="10957" l="51264" r="0" t="19775"/>
          <a:stretch/>
        </p:blipFill>
        <p:spPr>
          <a:xfrm>
            <a:off x="5394644" y="2243892"/>
            <a:ext cx="278525" cy="234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/>
          <p:nvPr/>
        </p:nvSpPr>
        <p:spPr>
          <a:xfrm>
            <a:off x="1564069" y="1763575"/>
            <a:ext cx="6391500" cy="4314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0" title="MCGIlll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0" y="0"/>
            <a:ext cx="9117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/>
          <p:nvPr/>
        </p:nvSpPr>
        <p:spPr>
          <a:xfrm>
            <a:off x="274320" y="4823460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600"/>
              <a:buFont typeface="Calibri"/>
              <a:buNone/>
            </a:pPr>
            <a:r>
              <a:rPr lang="en" sz="6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[2]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0"/>
          <p:cNvSpPr txBox="1"/>
          <p:nvPr>
            <p:ph idx="4294967295" type="title"/>
          </p:nvPr>
        </p:nvSpPr>
        <p:spPr>
          <a:xfrm>
            <a:off x="227875" y="1570950"/>
            <a:ext cx="7101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220">
                <a:solidFill>
                  <a:srgbClr val="FF0000"/>
                </a:solidFill>
              </a:rPr>
              <a:t>2</a:t>
            </a:r>
            <a:r>
              <a:rPr b="1" lang="en" sz="3220">
                <a:solidFill>
                  <a:srgbClr val="FF0000"/>
                </a:solidFill>
              </a:rPr>
              <a:t> - </a:t>
            </a:r>
            <a:r>
              <a:rPr b="1" lang="en" sz="3220">
                <a:solidFill>
                  <a:srgbClr val="FF0000"/>
                </a:solidFill>
              </a:rPr>
              <a:t>Exploratory Data Analysis (EDA)</a:t>
            </a:r>
            <a:endParaRPr b="1" sz="322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2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2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2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20">
              <a:solidFill>
                <a:srgbClr val="FF0000"/>
              </a:solidFill>
            </a:endParaRPr>
          </a:p>
        </p:txBody>
      </p:sp>
      <p:sp>
        <p:nvSpPr>
          <p:cNvPr id="131" name="Google Shape;13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/>
          <p:nvPr/>
        </p:nvSpPr>
        <p:spPr>
          <a:xfrm>
            <a:off x="365750" y="722863"/>
            <a:ext cx="8595300" cy="3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Time Coverage Mismatch</a:t>
            </a:r>
            <a:br>
              <a:rPr b="1"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Crime data spans </a:t>
            </a:r>
            <a:r>
              <a:rPr b="1" lang="en" sz="1600">
                <a:solidFill>
                  <a:schemeClr val="dk1"/>
                </a:solidFill>
              </a:rPr>
              <a:t>2015–2025</a:t>
            </a:r>
            <a:r>
              <a:rPr lang="en" sz="1600">
                <a:solidFill>
                  <a:schemeClr val="dk1"/>
                </a:solidFill>
              </a:rPr>
              <a:t>, while fire incidents cover </a:t>
            </a:r>
            <a:r>
              <a:rPr b="1" lang="en" sz="1600">
                <a:solidFill>
                  <a:schemeClr val="dk1"/>
                </a:solidFill>
              </a:rPr>
              <a:t>2005–2025</a:t>
            </a:r>
            <a:r>
              <a:rPr lang="en" sz="1600">
                <a:solidFill>
                  <a:schemeClr val="dk1"/>
                </a:solidFill>
              </a:rPr>
              <a:t> → missing 10 years of overlap.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Incomplete Geolocation Data</a:t>
            </a:r>
            <a:br>
              <a:rPr b="1"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Over </a:t>
            </a:r>
            <a:r>
              <a:rPr b="1" lang="en" sz="1600">
                <a:solidFill>
                  <a:schemeClr val="dk1"/>
                </a:solidFill>
              </a:rPr>
              <a:t>55,700 records lack X/Y or latitude/longitude</a:t>
            </a:r>
            <a:r>
              <a:rPr lang="en" sz="1600">
                <a:solidFill>
                  <a:schemeClr val="dk1"/>
                </a:solidFill>
              </a:rPr>
              <a:t>, making spatial analysis less reliable.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No Straightforward Mapping / No Direct Relationship</a:t>
            </a:r>
            <a:br>
              <a:rPr b="1"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PDQ-to-neighborhood links in the crime dataset don’t align directly with neighborhood data in the fire incidents dataset, limiting correlation.</a:t>
            </a:r>
            <a:endParaRPr sz="1600">
              <a:solidFill>
                <a:srgbClr val="030A18"/>
              </a:solidFill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274320" y="4823460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600"/>
              <a:buFont typeface="Calibri"/>
              <a:buNone/>
            </a:pPr>
            <a:r>
              <a:rPr b="0" i="0" lang="en" sz="600" u="sng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 txBox="1"/>
          <p:nvPr>
            <p:ph idx="4294967295" type="title"/>
          </p:nvPr>
        </p:nvSpPr>
        <p:spPr>
          <a:xfrm>
            <a:off x="311700" y="0"/>
            <a:ext cx="88323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Crime Dataset – Challenges for Integration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>
            <a:off x="274335" y="91439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3600"/>
              <a:buFont typeface="Calibri"/>
              <a:buNone/>
            </a:pPr>
            <a:r>
              <a:rPr i="0" lang="en" sz="2100" u="none" cap="none" strike="noStrike">
                <a:solidFill>
                  <a:srgbClr val="030A18"/>
                </a:solidFill>
              </a:rPr>
              <a:t>Montreal Fire Interventions (2005–2024)</a:t>
            </a:r>
            <a:br>
              <a:rPr i="0" lang="en" sz="2100" u="none" cap="none" strike="noStrike">
                <a:solidFill>
                  <a:srgbClr val="030A18"/>
                </a:solidFill>
              </a:rPr>
            </a:br>
            <a:r>
              <a:rPr i="1" lang="en" sz="1200" u="none" cap="none" strike="noStrike">
                <a:solidFill>
                  <a:srgbClr val="030A18"/>
                </a:solidFill>
              </a:rPr>
              <a:t>Service de sécurité incendie de Montréal (SIM)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sp>
        <p:nvSpPr>
          <p:cNvPr id="147" name="Google Shape;147;p22"/>
          <p:cNvSpPr/>
          <p:nvPr/>
        </p:nvSpPr>
        <p:spPr>
          <a:xfrm>
            <a:off x="365760" y="320040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200"/>
              <a:buFont typeface="Calibri"/>
              <a:buNone/>
            </a:pPr>
            <a:r>
              <a:rPr i="0" lang="en" sz="1300" u="none" cap="none" strike="noStrike">
                <a:solidFill>
                  <a:srgbClr val="030A18"/>
                </a:solidFill>
              </a:rPr>
              <a:t>This EDA examines nearly two decades of emergency calls handled by Montreal firefighters.</a:t>
            </a:r>
            <a:br>
              <a:rPr i="0" lang="en" sz="1300" u="none" cap="none" strike="noStrike">
                <a:solidFill>
                  <a:srgbClr val="030A18"/>
                </a:solidFill>
              </a:rPr>
            </a:br>
            <a:r>
              <a:rPr i="0" lang="en" sz="1300" u="none" cap="none" strike="noStrike">
                <a:solidFill>
                  <a:srgbClr val="030A18"/>
                </a:solidFill>
              </a:rPr>
              <a:t>We explore data quality issues, uncover key patterns and outline how modelling can support decision‑making.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274320" y="4823460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600"/>
              <a:buFont typeface="Calibri"/>
              <a:buNone/>
            </a:pPr>
            <a:r>
              <a:rPr b="0" i="0" lang="en" sz="600" u="sng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2"/>
          <p:cNvSpPr txBox="1"/>
          <p:nvPr>
            <p:ph idx="4294967295" type="title"/>
          </p:nvPr>
        </p:nvSpPr>
        <p:spPr>
          <a:xfrm>
            <a:off x="311700" y="0"/>
            <a:ext cx="88323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Data Sources &amp; Preparation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150" name="Google Shape;150;p22" title="brandweer44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3750" y="1250276"/>
            <a:ext cx="2998150" cy="299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/>
          <p:nvPr/>
        </p:nvSpPr>
        <p:spPr>
          <a:xfrm>
            <a:off x="553350" y="371798"/>
            <a:ext cx="27801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2400"/>
              <a:buFont typeface="Arial"/>
              <a:buNone/>
            </a:pPr>
            <a:r>
              <a:rPr b="1" lang="en" sz="1300">
                <a:solidFill>
                  <a:srgbClr val="FF0000"/>
                </a:solidFill>
              </a:rPr>
              <a:t>Missing values &amp; overlaps</a:t>
            </a:r>
            <a:endParaRPr b="1" sz="1300">
              <a:solidFill>
                <a:srgbClr val="FF0000"/>
              </a:solidFill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150950" y="698800"/>
            <a:ext cx="89166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30A18"/>
              </a:solidFill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rgbClr val="030A18"/>
                </a:solidFill>
              </a:rPr>
              <a:t>Missing columns: the intervention dataset from 2005 to 2014 does not have columns </a:t>
            </a:r>
            <a:r>
              <a:rPr b="1" lang="en" sz="1300">
                <a:solidFill>
                  <a:srgbClr val="030A18"/>
                </a:solidFill>
              </a:rPr>
              <a:t>MTM8_X </a:t>
            </a:r>
            <a:r>
              <a:rPr lang="en" sz="1300">
                <a:solidFill>
                  <a:srgbClr val="030A18"/>
                </a:solidFill>
              </a:rPr>
              <a:t>and </a:t>
            </a:r>
            <a:r>
              <a:rPr b="1" lang="en" sz="1300">
                <a:solidFill>
                  <a:srgbClr val="030A18"/>
                </a:solidFill>
              </a:rPr>
              <a:t>MTM8_Y</a:t>
            </a:r>
            <a:endParaRPr b="1" sz="1300">
              <a:solidFill>
                <a:srgbClr val="030A18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Char char="●"/>
            </a:pPr>
            <a:r>
              <a:rPr lang="en" sz="1300">
                <a:solidFill>
                  <a:srgbClr val="030A18"/>
                </a:solidFill>
              </a:rPr>
              <a:t>Data segmented into : 2005–2014, 2015–2022,2020-2023 and 2024-2025.</a:t>
            </a:r>
            <a:endParaRPr sz="1300">
              <a:solidFill>
                <a:srgbClr val="030A18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Char char="●"/>
            </a:pPr>
            <a:r>
              <a:rPr lang="en" sz="1300">
                <a:solidFill>
                  <a:srgbClr val="030A18"/>
                </a:solidFill>
              </a:rPr>
              <a:t>2020–2023 file overlaps with 2015–2022, causing duplicates when merging.</a:t>
            </a:r>
            <a:endParaRPr sz="1300">
              <a:solidFill>
                <a:srgbClr val="030A1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"/>
          <p:cNvSpPr txBox="1"/>
          <p:nvPr>
            <p:ph idx="4294967295" type="title"/>
          </p:nvPr>
        </p:nvSpPr>
        <p:spPr>
          <a:xfrm>
            <a:off x="235375" y="-101918"/>
            <a:ext cx="88323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Data Issues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0" y="2108950"/>
            <a:ext cx="91440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Char char="●"/>
            </a:pPr>
            <a:r>
              <a:rPr b="1" lang="en" sz="1300">
                <a:solidFill>
                  <a:srgbClr val="FF9900"/>
                </a:solidFill>
              </a:rPr>
              <a:t>I</a:t>
            </a:r>
            <a:r>
              <a:rPr b="1" lang="en" sz="1300">
                <a:solidFill>
                  <a:schemeClr val="accent4"/>
                </a:solidFill>
              </a:rPr>
              <a:t>ncident category names</a:t>
            </a:r>
            <a:r>
              <a:rPr b="1" lang="en" sz="1300">
                <a:solidFill>
                  <a:srgbClr val="030A18"/>
                </a:solidFill>
              </a:rPr>
              <a:t> : </a:t>
            </a:r>
            <a:r>
              <a:rPr lang="en" sz="1300">
                <a:solidFill>
                  <a:srgbClr val="030A18"/>
                </a:solidFill>
              </a:rPr>
              <a:t>The names change over time (e.g. ‘Premier répondant’ vs ‘1‑REPOND’).</a:t>
            </a:r>
            <a:endParaRPr sz="1300">
              <a:solidFill>
                <a:srgbClr val="030A18"/>
              </a:solidFill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Font typeface="Calibri"/>
              <a:buChar char="●"/>
            </a:pPr>
            <a:r>
              <a:rPr b="1" lang="en" sz="1300">
                <a:solidFill>
                  <a:srgbClr val="FF9900"/>
                </a:solidFill>
              </a:rPr>
              <a:t>Date </a:t>
            </a:r>
            <a:r>
              <a:rPr b="1" lang="en" sz="1300">
                <a:solidFill>
                  <a:srgbClr val="030A18"/>
                </a:solidFill>
              </a:rPr>
              <a:t> : </a:t>
            </a:r>
            <a:r>
              <a:rPr lang="en" sz="1300">
                <a:solidFill>
                  <a:srgbClr val="030A18"/>
                </a:solidFill>
              </a:rPr>
              <a:t>the format is inconsistent : </a:t>
            </a:r>
            <a:r>
              <a:rPr b="1" lang="en" sz="1300">
                <a:solidFill>
                  <a:srgbClr val="030A18"/>
                </a:solidFill>
              </a:rPr>
              <a:t>yyyy-mm-ddThh:mm:ss </a:t>
            </a:r>
            <a:r>
              <a:rPr lang="en" sz="1300">
                <a:solidFill>
                  <a:srgbClr val="030A18"/>
                </a:solidFill>
              </a:rPr>
              <a:t> &amp; </a:t>
            </a:r>
            <a:r>
              <a:rPr b="1" lang="en" sz="1300">
                <a:solidFill>
                  <a:srgbClr val="030A18"/>
                </a:solidFill>
              </a:rPr>
              <a:t>mm/dd/yyyy</a:t>
            </a:r>
            <a:endParaRPr sz="1300">
              <a:solidFill>
                <a:srgbClr val="030A18"/>
              </a:solidFill>
            </a:endParaRPr>
          </a:p>
        </p:txBody>
      </p:sp>
      <p:sp>
        <p:nvSpPr>
          <p:cNvPr id="161" name="Google Shape;161;p23"/>
          <p:cNvSpPr/>
          <p:nvPr/>
        </p:nvSpPr>
        <p:spPr>
          <a:xfrm>
            <a:off x="410750" y="1781938"/>
            <a:ext cx="27801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2400"/>
              <a:buFont typeface="Arial"/>
              <a:buNone/>
            </a:pPr>
            <a:r>
              <a:rPr b="1" lang="en" sz="1300">
                <a:solidFill>
                  <a:srgbClr val="FF0000"/>
                </a:solidFill>
              </a:rPr>
              <a:t> Inconsistencies &amp; privacy</a:t>
            </a:r>
            <a:endParaRPr b="1" sz="1300">
              <a:solidFill>
                <a:srgbClr val="FF0000"/>
              </a:solidFill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150950" y="1846738"/>
            <a:ext cx="259800" cy="1974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3"/>
          <p:cNvSpPr/>
          <p:nvPr/>
        </p:nvSpPr>
        <p:spPr>
          <a:xfrm>
            <a:off x="235375" y="436600"/>
            <a:ext cx="259800" cy="1974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idx="4294967295" type="title"/>
          </p:nvPr>
        </p:nvSpPr>
        <p:spPr>
          <a:xfrm>
            <a:off x="235375" y="-101918"/>
            <a:ext cx="88323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Data Issues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0" y="1340250"/>
            <a:ext cx="5614800" cy="24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Font typeface="Calibri"/>
              <a:buChar char="●"/>
            </a:pPr>
            <a:r>
              <a:rPr b="1" lang="en" sz="1300">
                <a:solidFill>
                  <a:schemeClr val="accent4"/>
                </a:solidFill>
              </a:rPr>
              <a:t>Municipalities Names</a:t>
            </a:r>
            <a:r>
              <a:rPr b="1" lang="en" sz="1300">
                <a:solidFill>
                  <a:srgbClr val="030A18"/>
                </a:solidFill>
              </a:rPr>
              <a:t> </a:t>
            </a:r>
            <a:r>
              <a:rPr lang="en" sz="1300">
                <a:solidFill>
                  <a:srgbClr val="030A18"/>
                </a:solidFill>
              </a:rPr>
              <a:t>: </a:t>
            </a:r>
            <a:endParaRPr sz="1300">
              <a:solidFill>
                <a:srgbClr val="030A18"/>
              </a:solidFill>
            </a:endParaRPr>
          </a:p>
          <a:p>
            <a:pPr indent="-31115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300"/>
              <a:buChar char="○"/>
            </a:pPr>
            <a:r>
              <a:rPr lang="en" sz="1300">
                <a:solidFill>
                  <a:srgbClr val="030A18"/>
                </a:solidFill>
              </a:rPr>
              <a:t>Some municipalities (such as Pointe-Claire and Westmount) do not belong to boroughs of Montreal. “NOM_ARROND” is recorded as “</a:t>
            </a:r>
            <a:r>
              <a:rPr b="1" lang="en" sz="1300">
                <a:solidFill>
                  <a:srgbClr val="030A18"/>
                </a:solidFill>
              </a:rPr>
              <a:t>Indéterminé</a:t>
            </a:r>
            <a:r>
              <a:rPr lang="en" sz="1300">
                <a:solidFill>
                  <a:srgbClr val="030A18"/>
                </a:solidFill>
              </a:rPr>
              <a:t>”.</a:t>
            </a:r>
            <a:endParaRPr sz="1300">
              <a:solidFill>
                <a:srgbClr val="030A18"/>
              </a:solidFill>
            </a:endParaRPr>
          </a:p>
          <a:p>
            <a:pPr indent="-31115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300"/>
              <a:buChar char="○"/>
            </a:pPr>
            <a:r>
              <a:rPr lang="en" sz="1300">
                <a:solidFill>
                  <a:srgbClr val="030A18"/>
                </a:solidFill>
              </a:rPr>
              <a:t>Different namings of the same city across different datasets</a:t>
            </a:r>
            <a:endParaRPr sz="1300">
              <a:solidFill>
                <a:srgbClr val="030A18"/>
              </a:solidFill>
            </a:endParaRPr>
          </a:p>
          <a:p>
            <a:pPr indent="-31115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300"/>
              <a:buChar char="■"/>
            </a:pPr>
            <a:r>
              <a:rPr lang="en" sz="1300">
                <a:solidFill>
                  <a:srgbClr val="030A18"/>
                </a:solidFill>
              </a:rPr>
              <a:t>Côte-des-Neiges-Notre_Dame-de-Grâce vs Côte-des-Neiges/Notre_Dame-de-Grâce</a:t>
            </a:r>
            <a:endParaRPr sz="1300">
              <a:solidFill>
                <a:srgbClr val="030A18"/>
              </a:solidFill>
            </a:endParaRPr>
          </a:p>
          <a:p>
            <a:pPr indent="-31115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300"/>
              <a:buChar char="■"/>
            </a:pPr>
            <a:r>
              <a:rPr lang="en" sz="1300">
                <a:solidFill>
                  <a:srgbClr val="030A18"/>
                </a:solidFill>
              </a:rPr>
              <a:t>Ahuntsic-Cartieville vs Ahuntsic / Cartieville</a:t>
            </a:r>
            <a:endParaRPr sz="1300">
              <a:solidFill>
                <a:srgbClr val="030A18"/>
              </a:solidFill>
            </a:endParaRPr>
          </a:p>
          <a:p>
            <a:pPr indent="0" lvl="0" marL="1371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30A18"/>
              </a:solidFill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Font typeface="Calibri"/>
              <a:buChar char="●"/>
            </a:pPr>
            <a:r>
              <a:rPr b="1" lang="en" sz="1300">
                <a:solidFill>
                  <a:srgbClr val="FF9900"/>
                </a:solidFill>
              </a:rPr>
              <a:t>Geolocation </a:t>
            </a:r>
            <a:r>
              <a:rPr lang="en" sz="1300">
                <a:solidFill>
                  <a:srgbClr val="030A18"/>
                </a:solidFill>
              </a:rPr>
              <a:t>obfuscated to nearest intersection to protect privacy; affects precise spatial analysis.</a:t>
            </a:r>
            <a:endParaRPr sz="1300">
              <a:solidFill>
                <a:srgbClr val="030A18"/>
              </a:solidFill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386650" y="851150"/>
            <a:ext cx="27801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2400"/>
              <a:buFont typeface="Arial"/>
              <a:buNone/>
            </a:pPr>
            <a:r>
              <a:rPr b="1" lang="en" sz="1300">
                <a:solidFill>
                  <a:srgbClr val="FF0000"/>
                </a:solidFill>
              </a:rPr>
              <a:t> Inconsistencies &amp; privacy</a:t>
            </a:r>
            <a:endParaRPr b="1" sz="1300">
              <a:solidFill>
                <a:srgbClr val="FF0000"/>
              </a:solidFill>
            </a:endParaRPr>
          </a:p>
        </p:txBody>
      </p:sp>
      <p:pic>
        <p:nvPicPr>
          <p:cNvPr id="173" name="Google Shape;173;p24"/>
          <p:cNvPicPr preferRelativeResize="0"/>
          <p:nvPr/>
        </p:nvPicPr>
        <p:blipFill rotWithShape="1">
          <a:blip r:embed="rId3">
            <a:alphaModFix/>
          </a:blip>
          <a:srcRect b="2660" l="0" r="80427" t="2660"/>
          <a:stretch/>
        </p:blipFill>
        <p:spPr>
          <a:xfrm rot="5400000">
            <a:off x="6806487" y="843488"/>
            <a:ext cx="1324026" cy="334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/>
          <p:nvPr/>
        </p:nvSpPr>
        <p:spPr>
          <a:xfrm>
            <a:off x="5223000" y="2571752"/>
            <a:ext cx="627600" cy="19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126850" y="915950"/>
            <a:ext cx="259800" cy="1974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5" title="MCGIlll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0" y="0"/>
            <a:ext cx="9117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/>
          <p:nvPr/>
        </p:nvSpPr>
        <p:spPr>
          <a:xfrm>
            <a:off x="274320" y="4823460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600"/>
              <a:buFont typeface="Calibri"/>
              <a:buNone/>
            </a:pPr>
            <a:r>
              <a:rPr lang="en" sz="6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[2]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5"/>
          <p:cNvSpPr txBox="1"/>
          <p:nvPr>
            <p:ph idx="4294967295" type="title"/>
          </p:nvPr>
        </p:nvSpPr>
        <p:spPr>
          <a:xfrm>
            <a:off x="204275" y="1570950"/>
            <a:ext cx="7125300" cy="10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620">
                <a:solidFill>
                  <a:srgbClr val="FF0000"/>
                </a:solidFill>
              </a:rPr>
              <a:t>3- Key Insights &amp; Next Steps</a:t>
            </a:r>
            <a:endParaRPr b="1" sz="3620">
              <a:solidFill>
                <a:srgbClr val="FF0000"/>
              </a:solidFill>
            </a:endParaRPr>
          </a:p>
        </p:txBody>
      </p:sp>
      <p:sp>
        <p:nvSpPr>
          <p:cNvPr id="185" name="Google Shape;185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/>
          <p:nvPr/>
        </p:nvSpPr>
        <p:spPr>
          <a:xfrm>
            <a:off x="274320" y="5135187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600"/>
              <a:buFont typeface="Calibri"/>
              <a:buNone/>
            </a:pPr>
            <a:r>
              <a:rPr lang="en" sz="6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[1]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6"/>
          <p:cNvSpPr txBox="1"/>
          <p:nvPr>
            <p:ph idx="4294967295" type="title"/>
          </p:nvPr>
        </p:nvSpPr>
        <p:spPr>
          <a:xfrm>
            <a:off x="311700" y="-54718"/>
            <a:ext cx="88323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Temporal trends - General overview of incidents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8420" y="570900"/>
            <a:ext cx="3992818" cy="211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6"/>
          <p:cNvSpPr/>
          <p:nvPr/>
        </p:nvSpPr>
        <p:spPr>
          <a:xfrm>
            <a:off x="204475" y="855600"/>
            <a:ext cx="4860600" cy="14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400"/>
              <a:buChar char="●"/>
            </a:pPr>
            <a:r>
              <a:rPr lang="en">
                <a:solidFill>
                  <a:srgbClr val="030A18"/>
                </a:solidFill>
              </a:rPr>
              <a:t>Steady growth from ~50k calls in 2005 to over 122k by 2017.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400"/>
              <a:buChar char="●"/>
            </a:pPr>
            <a:r>
              <a:rPr lang="en">
                <a:solidFill>
                  <a:srgbClr val="030A18"/>
                </a:solidFill>
              </a:rPr>
              <a:t>Sharp 30% drop in 2020 coinciding with the COVID‑19 pandemic.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400"/>
              <a:buChar char="●"/>
            </a:pPr>
            <a:r>
              <a:rPr lang="en">
                <a:solidFill>
                  <a:srgbClr val="030A18"/>
                </a:solidFill>
              </a:rPr>
              <a:t>Recovering volumes in 2021–2024, approaching pre‑pandemic levels.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311700" y="472675"/>
            <a:ext cx="34233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2400"/>
              <a:buFont typeface="Arial"/>
              <a:buNone/>
            </a:pPr>
            <a:r>
              <a:rPr b="1" lang="en" sz="1500">
                <a:solidFill>
                  <a:srgbClr val="FF0000"/>
                </a:solidFill>
              </a:rPr>
              <a:t>Trend for all the incidents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387300" y="2449363"/>
            <a:ext cx="35130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2400"/>
              <a:buFont typeface="Arial"/>
              <a:buNone/>
            </a:pPr>
            <a:r>
              <a:rPr b="1" lang="en" sz="1500">
                <a:solidFill>
                  <a:srgbClr val="FF0000"/>
                </a:solidFill>
              </a:rPr>
              <a:t>Trend for all “FIRE” incidents only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64225" y="2902625"/>
            <a:ext cx="4782300" cy="20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300"/>
              <a:buFont typeface="Calibri"/>
              <a:buChar char="●"/>
            </a:pPr>
            <a:r>
              <a:rPr b="1" lang="en" sz="1300">
                <a:solidFill>
                  <a:schemeClr val="dk1"/>
                </a:solidFill>
              </a:rPr>
              <a:t>Overall Decline:</a:t>
            </a:r>
            <a:r>
              <a:rPr lang="en" sz="1300">
                <a:solidFill>
                  <a:schemeClr val="dk1"/>
                </a:solidFill>
              </a:rPr>
              <a:t> Building fire incidents steadily decreased from ~1,650 in 2005 to below 1,200 after 2015, marking a </a:t>
            </a:r>
            <a:r>
              <a:rPr b="1" lang="en" sz="1300">
                <a:solidFill>
                  <a:schemeClr val="dk1"/>
                </a:solidFill>
              </a:rPr>
              <a:t>~30% reduction over two decades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300"/>
              <a:buFont typeface="Calibri"/>
              <a:buChar char="●"/>
            </a:pPr>
            <a:r>
              <a:rPr b="1" lang="en" sz="1300">
                <a:solidFill>
                  <a:schemeClr val="dk1"/>
                </a:solidFill>
              </a:rPr>
              <a:t>Stabilization Period:</a:t>
            </a:r>
            <a:r>
              <a:rPr lang="en" sz="1300">
                <a:solidFill>
                  <a:schemeClr val="dk1"/>
                </a:solidFill>
              </a:rPr>
              <a:t> From </a:t>
            </a:r>
            <a:r>
              <a:rPr b="1" lang="en" sz="1300">
                <a:solidFill>
                  <a:schemeClr val="dk1"/>
                </a:solidFill>
              </a:rPr>
              <a:t>2014 to 2019</a:t>
            </a:r>
            <a:r>
              <a:rPr lang="en" sz="1300">
                <a:solidFill>
                  <a:schemeClr val="dk1"/>
                </a:solidFill>
              </a:rPr>
              <a:t>, incidents remained relatively stable at historically low levels (~1,170–1,200 cases per year).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300"/>
              <a:buFont typeface="Calibri"/>
              <a:buChar char="●"/>
            </a:pPr>
            <a:r>
              <a:rPr b="1" lang="en" sz="1300">
                <a:solidFill>
                  <a:schemeClr val="dk1"/>
                </a:solidFill>
              </a:rPr>
              <a:t>Recent Fluctuations:</a:t>
            </a:r>
            <a:r>
              <a:rPr lang="en" sz="1300">
                <a:solidFill>
                  <a:schemeClr val="dk1"/>
                </a:solidFill>
              </a:rPr>
              <a:t> After a spike in </a:t>
            </a:r>
            <a:r>
              <a:rPr b="1" lang="en" sz="1300">
                <a:solidFill>
                  <a:schemeClr val="dk1"/>
                </a:solidFill>
              </a:rPr>
              <a:t>2020 (~1,380 incidents)</a:t>
            </a:r>
            <a:r>
              <a:rPr lang="en" sz="1300">
                <a:solidFill>
                  <a:schemeClr val="dk1"/>
                </a:solidFill>
              </a:rPr>
              <a:t>, counts fluctuated between 1,200–1,300, but never returned to early 2000s levels.</a:t>
            </a:r>
            <a:endParaRPr sz="13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30A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26" title="téléchargement (N9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3600" y="2747916"/>
            <a:ext cx="3992825" cy="215390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6"/>
          <p:cNvSpPr/>
          <p:nvPr/>
        </p:nvSpPr>
        <p:spPr>
          <a:xfrm>
            <a:off x="64225" y="598150"/>
            <a:ext cx="259800" cy="1974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6"/>
          <p:cNvSpPr/>
          <p:nvPr/>
        </p:nvSpPr>
        <p:spPr>
          <a:xfrm>
            <a:off x="64225" y="2578225"/>
            <a:ext cx="259800" cy="1974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/>
          <p:nvPr/>
        </p:nvSpPr>
        <p:spPr>
          <a:xfrm>
            <a:off x="274320" y="4823460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600"/>
              <a:buFont typeface="Calibri"/>
              <a:buNone/>
            </a:pPr>
            <a:r>
              <a:rPr lang="en" sz="6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[1]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7"/>
          <p:cNvSpPr txBox="1"/>
          <p:nvPr>
            <p:ph idx="4294967295" type="title"/>
          </p:nvPr>
        </p:nvSpPr>
        <p:spPr>
          <a:xfrm>
            <a:off x="311700" y="-54718"/>
            <a:ext cx="88323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“Fire Incidents” - Seasonality analysis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09" name="Google Shape;209;p27"/>
          <p:cNvSpPr/>
          <p:nvPr/>
        </p:nvSpPr>
        <p:spPr>
          <a:xfrm>
            <a:off x="5494700" y="1082375"/>
            <a:ext cx="3563400" cy="3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Font typeface="Calibri"/>
              <a:buChar char="●"/>
            </a:pPr>
            <a:r>
              <a:rPr b="1" lang="en" sz="1300">
                <a:solidFill>
                  <a:srgbClr val="FF9900"/>
                </a:solidFill>
              </a:rPr>
              <a:t>Long-Term Trend</a:t>
            </a:r>
            <a:r>
              <a:rPr b="1" lang="en" sz="1300">
                <a:solidFill>
                  <a:schemeClr val="dk1"/>
                </a:solidFill>
              </a:rPr>
              <a:t>:</a:t>
            </a:r>
            <a:r>
              <a:rPr lang="en" sz="1300">
                <a:solidFill>
                  <a:schemeClr val="dk1"/>
                </a:solidFill>
              </a:rPr>
              <a:t> Incident counts show a </a:t>
            </a:r>
            <a:r>
              <a:rPr b="1" lang="en" sz="1300">
                <a:solidFill>
                  <a:schemeClr val="dk1"/>
                </a:solidFill>
              </a:rPr>
              <a:t>gradual decline from 2005 to ~2016</a:t>
            </a:r>
            <a:r>
              <a:rPr lang="en" sz="1300">
                <a:solidFill>
                  <a:schemeClr val="dk1"/>
                </a:solidFill>
              </a:rPr>
              <a:t>, followed by a slight recovery around 2018–2020, then stabilization at lower levels post-2021.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Font typeface="Calibri"/>
              <a:buChar char="●"/>
            </a:pPr>
            <a:r>
              <a:rPr b="1" lang="en" sz="1300" u="sng">
                <a:solidFill>
                  <a:srgbClr val="FF9900"/>
                </a:solidFill>
              </a:rPr>
              <a:t>Seasonality</a:t>
            </a:r>
            <a:r>
              <a:rPr b="1" lang="en" sz="1300">
                <a:solidFill>
                  <a:schemeClr val="dk1"/>
                </a:solidFill>
              </a:rPr>
              <a:t>:</a:t>
            </a:r>
            <a:r>
              <a:rPr lang="en" sz="1300">
                <a:solidFill>
                  <a:schemeClr val="dk1"/>
                </a:solidFill>
              </a:rPr>
              <a:t> A </a:t>
            </a:r>
            <a:r>
              <a:rPr b="1" lang="en" sz="1300">
                <a:solidFill>
                  <a:schemeClr val="dk1"/>
                </a:solidFill>
              </a:rPr>
              <a:t>strong recurring seasonal cycle</a:t>
            </a:r>
            <a:r>
              <a:rPr lang="en" sz="1300">
                <a:solidFill>
                  <a:schemeClr val="dk1"/>
                </a:solidFill>
              </a:rPr>
              <a:t> is visible, with regular peaks and dips each year, suggesting predictable fluctuations in fire incidents.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Font typeface="Calibri"/>
              <a:buChar char="●"/>
            </a:pPr>
            <a:r>
              <a:rPr b="1" lang="en" sz="1300">
                <a:solidFill>
                  <a:srgbClr val="FF9900"/>
                </a:solidFill>
              </a:rPr>
              <a:t>Residuals</a:t>
            </a:r>
            <a:r>
              <a:rPr b="1" lang="en" sz="1300">
                <a:solidFill>
                  <a:schemeClr val="dk1"/>
                </a:solidFill>
              </a:rPr>
              <a:t>:</a:t>
            </a:r>
            <a:r>
              <a:rPr lang="en" sz="1300">
                <a:solidFill>
                  <a:schemeClr val="dk1"/>
                </a:solidFill>
              </a:rPr>
              <a:t> Random variations remain around the baseline, with some extreme spikes, but no persistent bias—indicating that most variability is captured by trend and seasonality.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210" name="Google Shape;210;p27" title="téléchargement (P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25075"/>
            <a:ext cx="5284163" cy="419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/>
          <p:nvPr/>
        </p:nvSpPr>
        <p:spPr>
          <a:xfrm>
            <a:off x="274320" y="4823460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600"/>
              <a:buFont typeface="Calibri"/>
              <a:buNone/>
            </a:pPr>
            <a:r>
              <a:rPr lang="en" sz="6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[1]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8"/>
          <p:cNvSpPr txBox="1"/>
          <p:nvPr>
            <p:ph idx="4294967295" type="title"/>
          </p:nvPr>
        </p:nvSpPr>
        <p:spPr>
          <a:xfrm>
            <a:off x="274325" y="0"/>
            <a:ext cx="8832300" cy="3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“Fire Incidents” - Temporal evolution (month/week/day)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0" y="1001875"/>
            <a:ext cx="5219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200"/>
              <a:buFont typeface="Calibri"/>
              <a:buChar char="●"/>
            </a:pPr>
            <a:r>
              <a:rPr b="1" lang="en" sz="1200">
                <a:solidFill>
                  <a:schemeClr val="dk1"/>
                </a:solidFill>
              </a:rPr>
              <a:t>Spring–Early Summer Peaks:</a:t>
            </a:r>
            <a:r>
              <a:rPr lang="en" sz="1200">
                <a:solidFill>
                  <a:schemeClr val="dk1"/>
                </a:solidFill>
              </a:rPr>
              <a:t> Incidents often rise between </a:t>
            </a:r>
            <a:r>
              <a:rPr b="1" lang="en" sz="1200">
                <a:solidFill>
                  <a:schemeClr val="dk1"/>
                </a:solidFill>
              </a:rPr>
              <a:t>April and June</a:t>
            </a:r>
            <a:r>
              <a:rPr lang="en" sz="1200">
                <a:solidFill>
                  <a:schemeClr val="dk1"/>
                </a:solidFill>
              </a:rPr>
              <a:t>, with 2020 showing a sharp spike in </a:t>
            </a:r>
            <a:r>
              <a:rPr b="1" lang="en" sz="1200">
                <a:solidFill>
                  <a:schemeClr val="dk1"/>
                </a:solidFill>
              </a:rPr>
              <a:t>May (~175 incidents)</a:t>
            </a:r>
            <a:r>
              <a:rPr lang="en" sz="1200">
                <a:solidFill>
                  <a:schemeClr val="dk1"/>
                </a:solidFill>
              </a:rPr>
              <a:t>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200"/>
              <a:buFont typeface="Calibri"/>
              <a:buChar char="●"/>
            </a:pPr>
            <a:r>
              <a:rPr b="1" lang="en" sz="1200">
                <a:solidFill>
                  <a:schemeClr val="dk1"/>
                </a:solidFill>
              </a:rPr>
              <a:t>Mid-Year Variability:</a:t>
            </a:r>
            <a:r>
              <a:rPr lang="en" sz="1200">
                <a:solidFill>
                  <a:schemeClr val="dk1"/>
                </a:solidFill>
              </a:rPr>
              <a:t> After June, most years show a </a:t>
            </a:r>
            <a:r>
              <a:rPr b="1" lang="en" sz="1200">
                <a:solidFill>
                  <a:schemeClr val="dk1"/>
                </a:solidFill>
              </a:rPr>
              <a:t>drop in July–August</a:t>
            </a:r>
            <a:r>
              <a:rPr lang="en" sz="1200">
                <a:solidFill>
                  <a:schemeClr val="dk1"/>
                </a:solidFill>
              </a:rPr>
              <a:t>, though some rebound slightly in late summer.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200"/>
              <a:buFont typeface="Calibri"/>
              <a:buChar char="●"/>
            </a:pPr>
            <a:r>
              <a:rPr b="1" lang="en" sz="1200">
                <a:solidFill>
                  <a:schemeClr val="dk1"/>
                </a:solidFill>
              </a:rPr>
              <a:t>Stable Autumn–Winter:</a:t>
            </a:r>
            <a:r>
              <a:rPr lang="en" sz="1200">
                <a:solidFill>
                  <a:schemeClr val="dk1"/>
                </a:solidFill>
              </a:rPr>
              <a:t> From </a:t>
            </a:r>
            <a:r>
              <a:rPr b="1" lang="en" sz="1200">
                <a:solidFill>
                  <a:schemeClr val="dk1"/>
                </a:solidFill>
              </a:rPr>
              <a:t>September to December</a:t>
            </a:r>
            <a:r>
              <a:rPr lang="en" sz="1200">
                <a:solidFill>
                  <a:schemeClr val="dk1"/>
                </a:solidFill>
              </a:rPr>
              <a:t>, incidents generally stabilize, with fewer fluctuations compared to spring.</a:t>
            </a:r>
            <a:endParaRPr sz="1200">
              <a:solidFill>
                <a:srgbClr val="030A18"/>
              </a:solidFill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414100" y="500450"/>
            <a:ext cx="14718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2400"/>
              <a:buFont typeface="Arial"/>
              <a:buNone/>
            </a:pPr>
            <a:r>
              <a:rPr b="1" lang="en" sz="1300">
                <a:solidFill>
                  <a:srgbClr val="FF0000"/>
                </a:solidFill>
              </a:rPr>
              <a:t>Trend by month</a:t>
            </a:r>
            <a:endParaRPr b="1" sz="1300">
              <a:solidFill>
                <a:srgbClr val="FF0000"/>
              </a:solidFill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414100" y="2661944"/>
            <a:ext cx="27801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2400"/>
              <a:buFont typeface="Arial"/>
              <a:buNone/>
            </a:pPr>
            <a:r>
              <a:rPr b="1" lang="en" sz="1300">
                <a:solidFill>
                  <a:srgbClr val="FF0000"/>
                </a:solidFill>
              </a:rPr>
              <a:t>Trend by day</a:t>
            </a:r>
            <a:endParaRPr b="1" sz="1300">
              <a:solidFill>
                <a:srgbClr val="FF0000"/>
              </a:solidFill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0" y="3095750"/>
            <a:ext cx="5219100" cy="17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100"/>
              <a:buFont typeface="Calibri"/>
              <a:buChar char="●"/>
            </a:pPr>
            <a:r>
              <a:rPr b="1" lang="en" sz="1100">
                <a:solidFill>
                  <a:schemeClr val="dk1"/>
                </a:solidFill>
              </a:rPr>
              <a:t>Early Week Activity:</a:t>
            </a:r>
            <a:r>
              <a:rPr lang="en" sz="1100">
                <a:solidFill>
                  <a:schemeClr val="dk1"/>
                </a:solidFill>
              </a:rPr>
              <a:t> Higher incident counts are often observed on </a:t>
            </a:r>
            <a:r>
              <a:rPr b="1" lang="en" sz="1100">
                <a:solidFill>
                  <a:schemeClr val="dk1"/>
                </a:solidFill>
              </a:rPr>
              <a:t>Mondays and Tuesdays</a:t>
            </a:r>
            <a:r>
              <a:rPr lang="en" sz="1100">
                <a:solidFill>
                  <a:schemeClr val="dk1"/>
                </a:solidFill>
              </a:rPr>
              <a:t>, with 2020 and 2022 peaking above </a:t>
            </a:r>
            <a:r>
              <a:rPr b="1" lang="en" sz="1100">
                <a:solidFill>
                  <a:schemeClr val="dk1"/>
                </a:solidFill>
              </a:rPr>
              <a:t>200 incidents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100"/>
              <a:buFont typeface="Calibri"/>
              <a:buChar char="●"/>
            </a:pPr>
            <a:r>
              <a:rPr b="1" lang="en" sz="1100">
                <a:solidFill>
                  <a:schemeClr val="dk1"/>
                </a:solidFill>
              </a:rPr>
              <a:t>Midweek Variability:</a:t>
            </a:r>
            <a:r>
              <a:rPr lang="en" sz="1100">
                <a:solidFill>
                  <a:schemeClr val="dk1"/>
                </a:solidFill>
              </a:rPr>
              <a:t> From </a:t>
            </a:r>
            <a:r>
              <a:rPr b="1" lang="en" sz="1100">
                <a:solidFill>
                  <a:schemeClr val="dk1"/>
                </a:solidFill>
              </a:rPr>
              <a:t>Wednesday to Friday</a:t>
            </a:r>
            <a:r>
              <a:rPr lang="en" sz="1100">
                <a:solidFill>
                  <a:schemeClr val="dk1"/>
                </a:solidFill>
              </a:rPr>
              <a:t>, counts fluctuate by year—some years dip (2021, 2024), others stay elevated (2023, 2022).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100"/>
              <a:buFont typeface="Calibri"/>
              <a:buChar char="●"/>
            </a:pPr>
            <a:r>
              <a:rPr b="1" lang="en" sz="1100">
                <a:solidFill>
                  <a:schemeClr val="dk1"/>
                </a:solidFill>
              </a:rPr>
              <a:t>Weekend Contrast: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Saturdays and Sundays</a:t>
            </a:r>
            <a:r>
              <a:rPr lang="en" sz="1100">
                <a:solidFill>
                  <a:schemeClr val="dk1"/>
                </a:solidFill>
              </a:rPr>
              <a:t> generally show mixed patterns—2020 and 2022 remain high, while 2025 shows the </a:t>
            </a:r>
            <a:r>
              <a:rPr b="1" lang="en" sz="1100">
                <a:solidFill>
                  <a:schemeClr val="dk1"/>
                </a:solidFill>
              </a:rPr>
              <a:t>lowest weekend levels (~110 incidents)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100"/>
              <a:buChar char="●"/>
            </a:pPr>
            <a:r>
              <a:t/>
            </a:r>
            <a:endParaRPr sz="1100">
              <a:solidFill>
                <a:srgbClr val="030A18"/>
              </a:solidFill>
            </a:endParaRPr>
          </a:p>
        </p:txBody>
      </p:sp>
      <p:pic>
        <p:nvPicPr>
          <p:cNvPr id="223" name="Google Shape;223;p28" title="téléchargement (O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1588" y="566669"/>
            <a:ext cx="3925025" cy="2136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8" title="téléchargement (R9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1500" y="2855374"/>
            <a:ext cx="3735125" cy="203295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8"/>
          <p:cNvSpPr/>
          <p:nvPr/>
        </p:nvSpPr>
        <p:spPr>
          <a:xfrm>
            <a:off x="126850" y="675325"/>
            <a:ext cx="259800" cy="1974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8"/>
          <p:cNvSpPr/>
          <p:nvPr/>
        </p:nvSpPr>
        <p:spPr>
          <a:xfrm>
            <a:off x="154300" y="2790800"/>
            <a:ext cx="259800" cy="1974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/>
          <p:nvPr>
            <p:ph idx="4294967295" type="title"/>
          </p:nvPr>
        </p:nvSpPr>
        <p:spPr>
          <a:xfrm>
            <a:off x="311700" y="-54718"/>
            <a:ext cx="88323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“Fire Incidents” - Temporal evolution (month/week/day)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233" name="Google Shape;233;p29" title="téléchargement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4674" y="637325"/>
            <a:ext cx="6678450" cy="30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9"/>
          <p:cNvSpPr/>
          <p:nvPr/>
        </p:nvSpPr>
        <p:spPr>
          <a:xfrm>
            <a:off x="414100" y="3514344"/>
            <a:ext cx="27801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2400"/>
              <a:buFont typeface="Arial"/>
              <a:buNone/>
            </a:pPr>
            <a:r>
              <a:rPr b="1" lang="en" sz="1300">
                <a:solidFill>
                  <a:srgbClr val="FF0000"/>
                </a:solidFill>
              </a:rPr>
              <a:t>Trend by Hour</a:t>
            </a:r>
            <a:endParaRPr b="1" sz="1300">
              <a:solidFill>
                <a:srgbClr val="FF0000"/>
              </a:solidFill>
            </a:endParaRPr>
          </a:p>
        </p:txBody>
      </p:sp>
      <p:sp>
        <p:nvSpPr>
          <p:cNvPr id="235" name="Google Shape;235;p29"/>
          <p:cNvSpPr/>
          <p:nvPr/>
        </p:nvSpPr>
        <p:spPr>
          <a:xfrm>
            <a:off x="22800" y="3872975"/>
            <a:ext cx="9022200" cy="12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100"/>
              <a:buFont typeface="Calibri"/>
              <a:buChar char="●"/>
            </a:pPr>
            <a:r>
              <a:rPr b="1" lang="en" sz="1100">
                <a:solidFill>
                  <a:schemeClr val="dk1"/>
                </a:solidFill>
              </a:rPr>
              <a:t>Nighttime Low:</a:t>
            </a:r>
            <a:r>
              <a:rPr lang="en" sz="1100">
                <a:solidFill>
                  <a:schemeClr val="dk1"/>
                </a:solidFill>
              </a:rPr>
              <a:t> Fire incidents are lowest between </a:t>
            </a:r>
            <a:r>
              <a:rPr b="1" lang="en" sz="1100">
                <a:solidFill>
                  <a:schemeClr val="dk1"/>
                </a:solidFill>
              </a:rPr>
              <a:t>1 AM and 6 AM</a:t>
            </a:r>
            <a:r>
              <a:rPr lang="en" sz="1100">
                <a:solidFill>
                  <a:schemeClr val="dk1"/>
                </a:solidFill>
              </a:rPr>
              <a:t> (~2,000 incidents/hour), reflecting reduced activity during nighttime.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100"/>
              <a:buFont typeface="Calibri"/>
              <a:buChar char="●"/>
            </a:pPr>
            <a:r>
              <a:rPr b="1" lang="en" sz="1100">
                <a:solidFill>
                  <a:schemeClr val="dk1"/>
                </a:solidFill>
              </a:rPr>
              <a:t>Daytime Peak:</a:t>
            </a:r>
            <a:r>
              <a:rPr lang="en" sz="1100">
                <a:solidFill>
                  <a:schemeClr val="dk1"/>
                </a:solidFill>
              </a:rPr>
              <a:t> Incidents rise sharply after </a:t>
            </a:r>
            <a:r>
              <a:rPr b="1" lang="en" sz="1100">
                <a:solidFill>
                  <a:schemeClr val="dk1"/>
                </a:solidFill>
              </a:rPr>
              <a:t>7 AM</a:t>
            </a:r>
            <a:r>
              <a:rPr lang="en" sz="1100">
                <a:solidFill>
                  <a:schemeClr val="dk1"/>
                </a:solidFill>
              </a:rPr>
              <a:t>, reaching their maximum between </a:t>
            </a:r>
            <a:r>
              <a:rPr b="1" lang="en" sz="1100">
                <a:solidFill>
                  <a:schemeClr val="dk1"/>
                </a:solidFill>
              </a:rPr>
              <a:t>10 AM and 1 PM</a:t>
            </a:r>
            <a:r>
              <a:rPr lang="en" sz="1100">
                <a:solidFill>
                  <a:schemeClr val="dk1"/>
                </a:solidFill>
              </a:rPr>
              <a:t> (over </a:t>
            </a:r>
            <a:r>
              <a:rPr b="1" lang="en" sz="1100">
                <a:solidFill>
                  <a:schemeClr val="dk1"/>
                </a:solidFill>
              </a:rPr>
              <a:t>5,000 incidents/hour</a:t>
            </a:r>
            <a:r>
              <a:rPr lang="en" sz="1100">
                <a:solidFill>
                  <a:schemeClr val="dk1"/>
                </a:solidFill>
              </a:rPr>
              <a:t>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100"/>
              <a:buFont typeface="Calibri"/>
              <a:buChar char="●"/>
            </a:pPr>
            <a:r>
              <a:rPr b="1" lang="en" sz="1100">
                <a:solidFill>
                  <a:schemeClr val="dk1"/>
                </a:solidFill>
              </a:rPr>
              <a:t>Afternoon Decline:</a:t>
            </a:r>
            <a:r>
              <a:rPr lang="en" sz="1100">
                <a:solidFill>
                  <a:schemeClr val="dk1"/>
                </a:solidFill>
              </a:rPr>
              <a:t> After the peak, incidents gradually decrease through the afternoon and evening, though still remain higher than night levels.</a:t>
            </a:r>
            <a:endParaRPr sz="1100">
              <a:solidFill>
                <a:srgbClr val="030A18"/>
              </a:solidFill>
            </a:endParaRPr>
          </a:p>
        </p:txBody>
      </p:sp>
      <p:sp>
        <p:nvSpPr>
          <p:cNvPr id="236" name="Google Shape;236;p29"/>
          <p:cNvSpPr/>
          <p:nvPr/>
        </p:nvSpPr>
        <p:spPr>
          <a:xfrm>
            <a:off x="154300" y="3643200"/>
            <a:ext cx="259800" cy="1974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3" name="Google Shape;243;p30"/>
          <p:cNvPicPr preferRelativeResize="0"/>
          <p:nvPr/>
        </p:nvPicPr>
        <p:blipFill rotWithShape="1">
          <a:blip r:embed="rId3">
            <a:alphaModFix/>
          </a:blip>
          <a:srcRect b="11837" l="2199" r="2161" t="3973"/>
          <a:stretch/>
        </p:blipFill>
        <p:spPr>
          <a:xfrm>
            <a:off x="140075" y="472675"/>
            <a:ext cx="5406827" cy="475957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0"/>
          <p:cNvSpPr/>
          <p:nvPr/>
        </p:nvSpPr>
        <p:spPr>
          <a:xfrm>
            <a:off x="5546900" y="553425"/>
            <a:ext cx="3597000" cy="39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Char char="●"/>
            </a:pPr>
            <a:r>
              <a:rPr b="1" lang="en" sz="1300">
                <a:solidFill>
                  <a:srgbClr val="FF9900"/>
                </a:solidFill>
              </a:rPr>
              <a:t>Majority</a:t>
            </a:r>
            <a:r>
              <a:rPr b="1" lang="en" sz="1300">
                <a:solidFill>
                  <a:schemeClr val="dk1"/>
                </a:solidFill>
              </a:rPr>
              <a:t>: Medical Response</a:t>
            </a:r>
            <a:r>
              <a:rPr lang="en" sz="1300">
                <a:solidFill>
                  <a:schemeClr val="dk1"/>
                </a:solidFill>
              </a:rPr>
              <a:t> – Over </a:t>
            </a:r>
            <a:r>
              <a:rPr b="1" lang="en" sz="1300">
                <a:solidFill>
                  <a:schemeClr val="dk1"/>
                </a:solidFill>
              </a:rPr>
              <a:t>60% of interventions</a:t>
            </a:r>
            <a:r>
              <a:rPr lang="en" sz="1300">
                <a:solidFill>
                  <a:schemeClr val="dk1"/>
                </a:solidFill>
              </a:rPr>
              <a:t> are </a:t>
            </a:r>
            <a:r>
              <a:rPr i="1" lang="en" sz="1300">
                <a:solidFill>
                  <a:schemeClr val="dk1"/>
                </a:solidFill>
              </a:rPr>
              <a:t>“</a:t>
            </a:r>
            <a:r>
              <a:rPr i="1" lang="en" sz="1300" u="sng">
                <a:solidFill>
                  <a:schemeClr val="dk1"/>
                </a:solidFill>
              </a:rPr>
              <a:t>Premier répondant</a:t>
            </a:r>
            <a:r>
              <a:rPr i="1" lang="en" sz="1300">
                <a:solidFill>
                  <a:schemeClr val="dk1"/>
                </a:solidFill>
              </a:rPr>
              <a:t>”</a:t>
            </a:r>
            <a:r>
              <a:rPr lang="en" sz="1300">
                <a:solidFill>
                  <a:schemeClr val="dk1"/>
                </a:solidFill>
              </a:rPr>
              <a:t> (first responder/medical aid), showing that most fire department calls are not fire-related.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Char char="●"/>
            </a:pPr>
            <a:r>
              <a:rPr b="1" lang="en" sz="1300">
                <a:solidFill>
                  <a:srgbClr val="FF9900"/>
                </a:solidFill>
              </a:rPr>
              <a:t>Non-Fire Incidents Significant</a:t>
            </a:r>
            <a:r>
              <a:rPr lang="en" sz="1300">
                <a:solidFill>
                  <a:schemeClr val="dk1"/>
                </a:solidFill>
              </a:rPr>
              <a:t> – </a:t>
            </a:r>
            <a:r>
              <a:rPr i="1" lang="en" sz="1300">
                <a:solidFill>
                  <a:schemeClr val="dk1"/>
                </a:solidFill>
              </a:rPr>
              <a:t>Sans incendie</a:t>
            </a:r>
            <a:r>
              <a:rPr lang="en" sz="1300">
                <a:solidFill>
                  <a:schemeClr val="dk1"/>
                </a:solidFill>
              </a:rPr>
              <a:t> (21.1%) and </a:t>
            </a:r>
            <a:r>
              <a:rPr i="1" lang="en" sz="1300">
                <a:solidFill>
                  <a:schemeClr val="dk1"/>
                </a:solidFill>
              </a:rPr>
              <a:t>Alarmes-incendies</a:t>
            </a:r>
            <a:r>
              <a:rPr lang="en" sz="1300">
                <a:solidFill>
                  <a:schemeClr val="dk1"/>
                </a:solidFill>
              </a:rPr>
              <a:t> (13.9%) together make up more than a third of interventions, highlighting the prevalence of false alarms or preventive responses.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Char char="●"/>
            </a:pPr>
            <a:r>
              <a:rPr b="1" lang="en" sz="1300">
                <a:solidFill>
                  <a:srgbClr val="FF9900"/>
                </a:solidFill>
              </a:rPr>
              <a:t>Actual Fires Are Rare</a:t>
            </a:r>
            <a:r>
              <a:rPr lang="en" sz="1300">
                <a:solidFill>
                  <a:schemeClr val="dk1"/>
                </a:solidFill>
              </a:rPr>
              <a:t> – True fire-related cases (</a:t>
            </a:r>
            <a:r>
              <a:rPr i="1" lang="en" sz="1300">
                <a:solidFill>
                  <a:schemeClr val="dk1"/>
                </a:solidFill>
              </a:rPr>
              <a:t>Incendies de bâtiments</a:t>
            </a:r>
            <a:r>
              <a:rPr lang="en" sz="1300">
                <a:solidFill>
                  <a:schemeClr val="dk1"/>
                </a:solidFill>
              </a:rPr>
              <a:t> 0.4%, </a:t>
            </a:r>
            <a:r>
              <a:rPr i="1" lang="en" sz="1300">
                <a:solidFill>
                  <a:schemeClr val="dk1"/>
                </a:solidFill>
              </a:rPr>
              <a:t>Autres incendies</a:t>
            </a:r>
            <a:r>
              <a:rPr lang="en" sz="1300">
                <a:solidFill>
                  <a:schemeClr val="dk1"/>
                </a:solidFill>
              </a:rPr>
              <a:t> 3.2%) represent less than </a:t>
            </a:r>
            <a:r>
              <a:rPr b="1" lang="en" sz="1300">
                <a:solidFill>
                  <a:schemeClr val="dk1"/>
                </a:solidFill>
              </a:rPr>
              <a:t>5%</a:t>
            </a:r>
            <a:r>
              <a:rPr lang="en" sz="1300">
                <a:solidFill>
                  <a:schemeClr val="dk1"/>
                </a:solidFill>
              </a:rPr>
              <a:t> of all interventions.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A18"/>
              </a:solidFill>
            </a:endParaRPr>
          </a:p>
        </p:txBody>
      </p:sp>
      <p:sp>
        <p:nvSpPr>
          <p:cNvPr id="245" name="Google Shape;245;p30"/>
          <p:cNvSpPr/>
          <p:nvPr/>
        </p:nvSpPr>
        <p:spPr>
          <a:xfrm>
            <a:off x="274320" y="4823460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600"/>
              <a:buFont typeface="Calibri"/>
              <a:buNone/>
            </a:pPr>
            <a:r>
              <a:rPr lang="en" sz="6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[2]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0"/>
          <p:cNvSpPr txBox="1"/>
          <p:nvPr>
            <p:ph idx="4294967295" type="title"/>
          </p:nvPr>
        </p:nvSpPr>
        <p:spPr>
          <a:xfrm>
            <a:off x="311700" y="-54718"/>
            <a:ext cx="88323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Key Insights :  Incident Type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47" name="Google Shape;247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/>
          <p:nvPr/>
        </p:nvSpPr>
        <p:spPr>
          <a:xfrm>
            <a:off x="113350" y="557075"/>
            <a:ext cx="4835700" cy="27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A18"/>
              </a:solidFill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200"/>
              <a:buFont typeface="Calibri"/>
              <a:buChar char="●"/>
            </a:pPr>
            <a:r>
              <a:rPr b="1" lang="en" sz="1200">
                <a:solidFill>
                  <a:srgbClr val="030A18"/>
                </a:solidFill>
              </a:rPr>
              <a:t>Central &amp; Eastern Montréal </a:t>
            </a:r>
            <a:r>
              <a:rPr lang="en" sz="1200">
                <a:solidFill>
                  <a:srgbClr val="030A18"/>
                </a:solidFill>
              </a:rPr>
              <a:t>: High concentration of incidents, especially in densely populated boroughs like Plateau-Mont-Royal, Rosemont, Ville-Marie, and Hochelaga.</a:t>
            </a:r>
            <a:endParaRPr sz="1200">
              <a:solidFill>
                <a:srgbClr val="030A1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A18"/>
              </a:solidFill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200"/>
              <a:buFont typeface="Calibri"/>
              <a:buChar char="●"/>
            </a:pPr>
            <a:r>
              <a:rPr b="1" lang="en" sz="1200">
                <a:solidFill>
                  <a:srgbClr val="030A18"/>
                </a:solidFill>
              </a:rPr>
              <a:t>West Island </a:t>
            </a:r>
            <a:r>
              <a:rPr lang="en" sz="1200">
                <a:solidFill>
                  <a:srgbClr val="030A18"/>
                </a:solidFill>
              </a:rPr>
              <a:t>: Moderate clusters, scattered but notable in residential areas like Kirkland, Beaconsfield.</a:t>
            </a:r>
            <a:endParaRPr sz="1200">
              <a:solidFill>
                <a:srgbClr val="030A18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A18"/>
              </a:solidFill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200"/>
              <a:buFont typeface="Calibri"/>
              <a:buChar char="●"/>
            </a:pPr>
            <a:r>
              <a:rPr b="1" lang="en" sz="1200">
                <a:solidFill>
                  <a:srgbClr val="030A18"/>
                </a:solidFill>
              </a:rPr>
              <a:t>North Montréal &amp; Laval</a:t>
            </a:r>
            <a:r>
              <a:rPr lang="en" sz="1200">
                <a:solidFill>
                  <a:srgbClr val="030A18"/>
                </a:solidFill>
              </a:rPr>
              <a:t> : Distinct clusters near Saint-Laurent and Laval, showing suburban activity.</a:t>
            </a:r>
            <a:endParaRPr sz="1200">
              <a:solidFill>
                <a:srgbClr val="030A18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A18"/>
              </a:solidFill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030A18"/>
                </a:solidFill>
              </a:rPr>
              <a:t>The </a:t>
            </a:r>
            <a:r>
              <a:rPr b="1" lang="en" sz="1200">
                <a:solidFill>
                  <a:srgbClr val="030A18"/>
                </a:solidFill>
              </a:rPr>
              <a:t>highest density</a:t>
            </a:r>
            <a:r>
              <a:rPr lang="en" sz="1200">
                <a:solidFill>
                  <a:srgbClr val="030A18"/>
                </a:solidFill>
              </a:rPr>
              <a:t> is observed in </a:t>
            </a:r>
            <a:r>
              <a:rPr b="1" lang="en" sz="1200">
                <a:solidFill>
                  <a:srgbClr val="030A18"/>
                </a:solidFill>
              </a:rPr>
              <a:t>downtown </a:t>
            </a:r>
            <a:r>
              <a:rPr lang="en" sz="1200">
                <a:solidFill>
                  <a:srgbClr val="030A18"/>
                </a:solidFill>
              </a:rPr>
              <a:t>and </a:t>
            </a:r>
            <a:r>
              <a:rPr b="1" lang="en" sz="1200">
                <a:solidFill>
                  <a:srgbClr val="030A18"/>
                </a:solidFill>
              </a:rPr>
              <a:t>central boroughs</a:t>
            </a:r>
            <a:r>
              <a:rPr lang="en" sz="1200">
                <a:solidFill>
                  <a:srgbClr val="030A18"/>
                </a:solidFill>
              </a:rPr>
              <a:t>, likely due to higher population, older infrastructure, and mixed building uses.</a:t>
            </a:r>
            <a:endParaRPr sz="1200">
              <a:solidFill>
                <a:srgbClr val="030A18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A18"/>
              </a:solidFill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200"/>
              <a:buChar char="●"/>
            </a:pPr>
            <a:r>
              <a:rPr lang="en" sz="1200">
                <a:solidFill>
                  <a:srgbClr val="030A18"/>
                </a:solidFill>
              </a:rPr>
              <a:t>Peripheral suburbs show smaller clusters, possibly linked to residential fires or specific industrial/commercial zones.</a:t>
            </a:r>
            <a:endParaRPr sz="1200">
              <a:solidFill>
                <a:srgbClr val="030A1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30A18"/>
              </a:solidFill>
            </a:endParaRPr>
          </a:p>
        </p:txBody>
      </p:sp>
      <p:sp>
        <p:nvSpPr>
          <p:cNvPr id="253" name="Google Shape;253;p31"/>
          <p:cNvSpPr/>
          <p:nvPr/>
        </p:nvSpPr>
        <p:spPr>
          <a:xfrm>
            <a:off x="113350" y="3465200"/>
            <a:ext cx="5227200" cy="13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9900"/>
                </a:solidFill>
              </a:rPr>
              <a:t>Key Takeaways</a:t>
            </a:r>
            <a:endParaRPr b="1" sz="1200">
              <a:solidFill>
                <a:srgbClr val="FF9900"/>
              </a:solidFill>
            </a:endParaRPr>
          </a:p>
          <a:p>
            <a:pPr indent="-1333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200"/>
              <a:buFont typeface="Calibri"/>
              <a:buChar char="➢"/>
            </a:pPr>
            <a:r>
              <a:rPr lang="en" sz="1200">
                <a:solidFill>
                  <a:srgbClr val="030A18"/>
                </a:solidFill>
              </a:rPr>
              <a:t>Fire incidents are not uniformly distributed: </a:t>
            </a:r>
            <a:r>
              <a:rPr b="1" lang="en" sz="1200">
                <a:solidFill>
                  <a:srgbClr val="030A18"/>
                </a:solidFill>
              </a:rPr>
              <a:t>central Montréal is most at risk.</a:t>
            </a:r>
            <a:endParaRPr b="1" sz="1200">
              <a:solidFill>
                <a:srgbClr val="030A18"/>
              </a:solidFill>
            </a:endParaRPr>
          </a:p>
          <a:p>
            <a:pPr indent="-1333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200"/>
              <a:buChar char="➢"/>
            </a:pPr>
            <a:r>
              <a:rPr lang="en" sz="1200">
                <a:solidFill>
                  <a:srgbClr val="030A18"/>
                </a:solidFill>
              </a:rPr>
              <a:t>Suburban clusters show localized hot spots that may need targeted prevention.</a:t>
            </a:r>
            <a:endParaRPr sz="1200">
              <a:solidFill>
                <a:srgbClr val="030A18"/>
              </a:solidFill>
            </a:endParaRPr>
          </a:p>
          <a:p>
            <a:pPr indent="-1333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200"/>
              <a:buChar char="➢"/>
            </a:pPr>
            <a:r>
              <a:rPr lang="en" sz="1200">
                <a:solidFill>
                  <a:srgbClr val="030A18"/>
                </a:solidFill>
              </a:rPr>
              <a:t>Mapping highlights the potential for hotspot analysis and risk zoning for city planning and fire department resource allocation.</a:t>
            </a:r>
            <a:endParaRPr sz="1200">
              <a:solidFill>
                <a:srgbClr val="030A18"/>
              </a:solidFill>
            </a:endParaRPr>
          </a:p>
        </p:txBody>
      </p:sp>
      <p:pic>
        <p:nvPicPr>
          <p:cNvPr id="254" name="Google Shape;254;p31" title="Capture d’écran 2025-09-30 154206.png"/>
          <p:cNvPicPr preferRelativeResize="0"/>
          <p:nvPr/>
        </p:nvPicPr>
        <p:blipFill rotWithShape="1">
          <a:blip r:embed="rId3">
            <a:alphaModFix/>
          </a:blip>
          <a:srcRect b="0" l="4425" r="0" t="0"/>
          <a:stretch/>
        </p:blipFill>
        <p:spPr>
          <a:xfrm>
            <a:off x="5256575" y="334175"/>
            <a:ext cx="3735025" cy="461147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1"/>
          <p:cNvSpPr/>
          <p:nvPr/>
        </p:nvSpPr>
        <p:spPr>
          <a:xfrm>
            <a:off x="7960000" y="2893150"/>
            <a:ext cx="616200" cy="19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0000"/>
                </a:solidFill>
              </a:rPr>
              <a:t>Central</a:t>
            </a:r>
            <a:endParaRPr b="1" sz="800">
              <a:solidFill>
                <a:srgbClr val="FF0000"/>
              </a:solidFill>
            </a:endParaRPr>
          </a:p>
        </p:txBody>
      </p:sp>
      <p:sp>
        <p:nvSpPr>
          <p:cNvPr id="256" name="Google Shape;256;p31"/>
          <p:cNvSpPr txBox="1"/>
          <p:nvPr>
            <p:ph idx="4294967295" type="title"/>
          </p:nvPr>
        </p:nvSpPr>
        <p:spPr>
          <a:xfrm>
            <a:off x="311700" y="-54718"/>
            <a:ext cx="88323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Key Insights &amp; Next Steps  :  Geographic distribution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57" name="Google Shape;257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3" name="Google Shape;26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8675"/>
            <a:ext cx="4692474" cy="2697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4" name="Google Shape;26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825" y="819275"/>
            <a:ext cx="4237626" cy="2648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2"/>
          <p:cNvSpPr/>
          <p:nvPr/>
        </p:nvSpPr>
        <p:spPr>
          <a:xfrm>
            <a:off x="365750" y="3749050"/>
            <a:ext cx="8672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300"/>
              <a:buFont typeface="Calibri"/>
              <a:buChar char="●"/>
            </a:pPr>
            <a:r>
              <a:rPr b="1" lang="en" sz="1300">
                <a:solidFill>
                  <a:srgbClr val="030A18"/>
                </a:solidFill>
              </a:rPr>
              <a:t>Ville‑Marie</a:t>
            </a:r>
            <a:r>
              <a:rPr lang="en" sz="1300">
                <a:solidFill>
                  <a:srgbClr val="030A18"/>
                </a:solidFill>
              </a:rPr>
              <a:t> is consistently the busiest arrondissement, followed by Côte‑des‑Neiges–NDG and </a:t>
            </a:r>
            <a:r>
              <a:rPr lang="en" sz="1300">
                <a:solidFill>
                  <a:srgbClr val="030A18"/>
                </a:solidFill>
              </a:rPr>
              <a:t>M</a:t>
            </a:r>
            <a:r>
              <a:rPr lang="en" sz="1300">
                <a:solidFill>
                  <a:srgbClr val="030A18"/>
                </a:solidFill>
              </a:rPr>
              <a:t>ercier–Hochelaga–Maisonneuve.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rgbClr val="030A18"/>
                </a:solidFill>
              </a:rPr>
              <a:t>Most interventions deploy only </a:t>
            </a:r>
            <a:r>
              <a:rPr b="1" lang="en" sz="1300">
                <a:solidFill>
                  <a:srgbClr val="030A18"/>
                </a:solidFill>
              </a:rPr>
              <a:t>1–2 units</a:t>
            </a:r>
            <a:r>
              <a:rPr lang="en" sz="1300">
                <a:solidFill>
                  <a:srgbClr val="030A18"/>
                </a:solidFill>
              </a:rPr>
              <a:t>; very few require more than 6 units.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66" name="Google Shape;266;p32"/>
          <p:cNvSpPr/>
          <p:nvPr/>
        </p:nvSpPr>
        <p:spPr>
          <a:xfrm>
            <a:off x="274320" y="4823460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600"/>
              <a:buFont typeface="Calibri"/>
              <a:buNone/>
            </a:pPr>
            <a:r>
              <a:rPr lang="en" sz="6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[2]</a:t>
            </a:r>
            <a:r>
              <a:rPr lang="en" sz="6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[3]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2"/>
          <p:cNvSpPr txBox="1"/>
          <p:nvPr>
            <p:ph idx="4294967295" type="title"/>
          </p:nvPr>
        </p:nvSpPr>
        <p:spPr>
          <a:xfrm>
            <a:off x="311700" y="-54718"/>
            <a:ext cx="88323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Key Insights &amp; Next Steps  :  </a:t>
            </a:r>
            <a:r>
              <a:rPr b="1" lang="en">
                <a:solidFill>
                  <a:srgbClr val="FF0000"/>
                </a:solidFill>
              </a:rPr>
              <a:t>Resources &amp; geography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68" name="Google Shape;268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"/>
          <p:cNvSpPr txBox="1"/>
          <p:nvPr>
            <p:ph idx="4294967295" type="title"/>
          </p:nvPr>
        </p:nvSpPr>
        <p:spPr>
          <a:xfrm>
            <a:off x="311700" y="-54718"/>
            <a:ext cx="88323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Next steps: Towards predictive insight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descr="preencoded.png" id="274" name="Google Shape;274;p33"/>
          <p:cNvPicPr preferRelativeResize="0"/>
          <p:nvPr/>
        </p:nvPicPr>
        <p:blipFill rotWithShape="1">
          <a:blip r:embed="rId3">
            <a:alphaModFix/>
          </a:blip>
          <a:srcRect b="0" l="11454" r="11462" t="0"/>
          <a:stretch/>
        </p:blipFill>
        <p:spPr>
          <a:xfrm>
            <a:off x="6303300" y="1549025"/>
            <a:ext cx="2723424" cy="23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3"/>
          <p:cNvSpPr/>
          <p:nvPr/>
        </p:nvSpPr>
        <p:spPr>
          <a:xfrm>
            <a:off x="195725" y="656700"/>
            <a:ext cx="59955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Char char="●"/>
            </a:pPr>
            <a:r>
              <a:rPr lang="en" sz="1300">
                <a:solidFill>
                  <a:srgbClr val="030A18"/>
                </a:solidFill>
              </a:rPr>
              <a:t>Use of geolocalisation coordinate (LAT &amp; LONG) to create many zones grid on the map for </a:t>
            </a:r>
            <a:r>
              <a:rPr lang="en" sz="1300">
                <a:solidFill>
                  <a:srgbClr val="030A18"/>
                </a:solidFill>
              </a:rPr>
              <a:t>aggregation</a:t>
            </a:r>
            <a:r>
              <a:rPr lang="en" sz="1300">
                <a:solidFill>
                  <a:srgbClr val="030A18"/>
                </a:solidFill>
              </a:rPr>
              <a:t> purpose.</a:t>
            </a:r>
            <a:endParaRPr sz="1300">
              <a:solidFill>
                <a:srgbClr val="030A18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30A18"/>
              </a:solidFill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Char char="●"/>
            </a:pPr>
            <a:r>
              <a:rPr lang="en" sz="1300">
                <a:solidFill>
                  <a:srgbClr val="030A18"/>
                </a:solidFill>
              </a:rPr>
              <a:t>Exploration of the crimes, demographics and 311 datasets.</a:t>
            </a:r>
            <a:endParaRPr sz="1300">
              <a:solidFill>
                <a:srgbClr val="030A18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30A18"/>
              </a:solidFill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Char char="●"/>
            </a:pPr>
            <a:r>
              <a:rPr lang="en" sz="1300">
                <a:solidFill>
                  <a:srgbClr val="030A18"/>
                </a:solidFill>
              </a:rPr>
              <a:t>Data preparation: remove duplicates, impute missing values and harmonise category labels.</a:t>
            </a:r>
            <a:endParaRPr sz="1300">
              <a:solidFill>
                <a:srgbClr val="030A18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30A18"/>
              </a:solidFill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Char char="●"/>
            </a:pPr>
            <a:r>
              <a:rPr lang="en" sz="1300">
                <a:solidFill>
                  <a:srgbClr val="030A18"/>
                </a:solidFill>
              </a:rPr>
              <a:t>Feature engineering: derive temporal variables (hour/day/season), encode categorical variables and incorporate spatial context.</a:t>
            </a:r>
            <a:endParaRPr sz="1300">
              <a:solidFill>
                <a:srgbClr val="030A18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30A18"/>
              </a:solidFill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Char char="●"/>
            </a:pPr>
            <a:r>
              <a:rPr lang="en" sz="1300">
                <a:solidFill>
                  <a:srgbClr val="030A18"/>
                </a:solidFill>
              </a:rPr>
              <a:t>Predictive modelling: classify the fire risk for each grid to facilitate inspections.</a:t>
            </a:r>
            <a:endParaRPr sz="1300">
              <a:solidFill>
                <a:srgbClr val="030A18"/>
              </a:solidFill>
            </a:endParaRPr>
          </a:p>
          <a:p>
            <a:pPr indent="-311150" lvl="1" marL="914400" marR="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>
                <a:solidFill>
                  <a:srgbClr val="030A18"/>
                </a:solidFill>
              </a:rPr>
              <a:t>If time allowed, train classification models (e.g. Random Forest, Gradient Boosting) to </a:t>
            </a:r>
            <a:r>
              <a:rPr b="1" lang="en" sz="1300">
                <a:solidFill>
                  <a:srgbClr val="030A18"/>
                </a:solidFill>
              </a:rPr>
              <a:t>predict incident type or required units</a:t>
            </a:r>
            <a:r>
              <a:rPr lang="en" sz="1300">
                <a:solidFill>
                  <a:srgbClr val="030A18"/>
                </a:solidFill>
              </a:rPr>
              <a:t>; use time‑series models to </a:t>
            </a:r>
            <a:r>
              <a:rPr b="1" lang="en" sz="1300">
                <a:solidFill>
                  <a:srgbClr val="030A18"/>
                </a:solidFill>
              </a:rPr>
              <a:t>forecast call volumes</a:t>
            </a:r>
            <a:r>
              <a:rPr lang="en" sz="1300">
                <a:solidFill>
                  <a:srgbClr val="030A18"/>
                </a:solidFill>
              </a:rPr>
              <a:t>.</a:t>
            </a:r>
            <a:endParaRPr sz="1300">
              <a:solidFill>
                <a:srgbClr val="030A18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30A18"/>
              </a:solidFill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00"/>
              <a:buChar char="●"/>
            </a:pPr>
            <a:r>
              <a:rPr lang="en" sz="1300">
                <a:solidFill>
                  <a:srgbClr val="030A18"/>
                </a:solidFill>
              </a:rPr>
              <a:t>Evaluation &amp; deployment: evaluate with accuracy/F1/MAE, cross‑validate; integrate insights into resource planning dashboards.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76" name="Google Shape;276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